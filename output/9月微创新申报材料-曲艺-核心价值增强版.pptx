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568940ef30452b" /><Relationship Type="http://schemas.openxmlformats.org/officeDocument/2006/relationships/extended-properties" Target="/docProps/app.xml" Id="Rada5286f08914142" /><Relationship Type="http://schemas.openxmlformats.org/officeDocument/2006/relationships/officeDocument" Target="/ppt/presentation.xml" Id="R43ba8400185d4d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06babf5e7c4432"/>
  </p:sldMasterIdLst>
  <p:notesMasterIdLst>
    <p:notesMasterId xmlns:r="http://schemas.openxmlformats.org/officeDocument/2006/relationships" r:id="Rf49379d3ed7745fc"/>
  </p:notesMasterIdLst>
  <p:sldIdLst>
    <p:sldId xmlns:r="http://schemas.openxmlformats.org/officeDocument/2006/relationships" id="256" r:id="Rb43462866fd04058"/>
    <p:sldId xmlns:r="http://schemas.openxmlformats.org/officeDocument/2006/relationships" id="257" r:id="R35b7aca687b94fdb"/>
    <p:sldId xmlns:r="http://schemas.openxmlformats.org/officeDocument/2006/relationships" id="258" r:id="R2f81f4cd32ea4cf4"/>
    <p:sldId xmlns:r="http://schemas.openxmlformats.org/officeDocument/2006/relationships" id="259" r:id="R2c154bd858b24b3d"/>
    <p:sldId xmlns:r="http://schemas.openxmlformats.org/officeDocument/2006/relationships" id="260" r:id="R92ad394e595b4366"/>
    <p:sldId xmlns:r="http://schemas.openxmlformats.org/officeDocument/2006/relationships" id="261" r:id="R782d186597174005"/>
    <p:sldId xmlns:r="http://schemas.openxmlformats.org/officeDocument/2006/relationships" id="262" r:id="R7cd14788bd424828"/>
    <p:sldId xmlns:r="http://schemas.openxmlformats.org/officeDocument/2006/relationships" id="263" r:id="Rffe4e189705146a3"/>
    <p:sldId xmlns:r="http://schemas.openxmlformats.org/officeDocument/2006/relationships" id="264" r:id="R14e300b5fab94ce6"/>
    <p:sldId xmlns:r="http://schemas.openxmlformats.org/officeDocument/2006/relationships" id="265" r:id="R6c8e486840c9418a"/>
    <p:sldId xmlns:r="http://schemas.openxmlformats.org/officeDocument/2006/relationships" id="266" r:id="R0a56b9202d29418b"/>
    <p:sldId xmlns:r="http://schemas.openxmlformats.org/officeDocument/2006/relationships" id="267" r:id="R8ba8f6d8ddd14593"/>
    <p:sldId xmlns:r="http://schemas.openxmlformats.org/officeDocument/2006/relationships" id="268" r:id="R099b41dd1d074c34"/>
    <p:sldId xmlns:r="http://schemas.openxmlformats.org/officeDocument/2006/relationships" id="269" r:id="R6fc0a6d528734f72"/>
    <p:sldId xmlns:r="http://schemas.openxmlformats.org/officeDocument/2006/relationships" id="270" r:id="R13e32650e12f4648"/>
    <p:sldId xmlns:r="http://schemas.openxmlformats.org/officeDocument/2006/relationships" id="271" r:id="Ra97b49bc435c4b5e"/>
    <p:sldId xmlns:r="http://schemas.openxmlformats.org/officeDocument/2006/relationships" id="272" r:id="R6e89179f2070471e"/>
    <p:sldId xmlns:r="http://schemas.openxmlformats.org/officeDocument/2006/relationships" id="273" r:id="R7b71f2dab6c543dd"/>
    <p:sldId xmlns:r="http://schemas.openxmlformats.org/officeDocument/2006/relationships" id="274" r:id="R88866134443e4437"/>
    <p:sldId xmlns:r="http://schemas.openxmlformats.org/officeDocument/2006/relationships" id="275" r:id="Ra5f60d63b2924b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821f895b684586" /><Relationship Type="http://schemas.openxmlformats.org/officeDocument/2006/relationships/slideMaster" Target="/ppt/slideMasters/slideMaster1.xml" Id="Reb06babf5e7c4432" /><Relationship Type="http://schemas.openxmlformats.org/officeDocument/2006/relationships/notesMaster" Target="/ppt/notesMasters/notesMaster1.xml" Id="Rf49379d3ed7745fc" /><Relationship Type="http://schemas.openxmlformats.org/officeDocument/2006/relationships/presProps" Target="/ppt/presProps.xml" Id="Rc3d088759fa44b14" /><Relationship Type="http://schemas.openxmlformats.org/officeDocument/2006/relationships/viewProps" Target="/ppt/viewProps.xml" Id="R88ea5a7cb6e243c2" /><Relationship Type="http://schemas.openxmlformats.org/officeDocument/2006/relationships/tableStyles" Target="/ppt/tableStyles.xml" Id="R08c7308eb260433c" /><Relationship Type="http://schemas.openxmlformats.org/officeDocument/2006/relationships/slide" Target="/ppt/slides/slide1.xml" Id="Rb43462866fd04058" /><Relationship Type="http://schemas.openxmlformats.org/officeDocument/2006/relationships/slide" Target="/ppt/slides/slide2.xml" Id="R35b7aca687b94fdb" /><Relationship Type="http://schemas.openxmlformats.org/officeDocument/2006/relationships/slide" Target="/ppt/slides/slide3.xml" Id="R2f81f4cd32ea4cf4" /><Relationship Type="http://schemas.openxmlformats.org/officeDocument/2006/relationships/slide" Target="/ppt/slides/slide4.xml" Id="R2c154bd858b24b3d" /><Relationship Type="http://schemas.openxmlformats.org/officeDocument/2006/relationships/slide" Target="/ppt/slides/slide5.xml" Id="R92ad394e595b4366" /><Relationship Type="http://schemas.openxmlformats.org/officeDocument/2006/relationships/slide" Target="/ppt/slides/slide6.xml" Id="R782d186597174005" /><Relationship Type="http://schemas.openxmlformats.org/officeDocument/2006/relationships/slide" Target="/ppt/slides/slide7.xml" Id="R7cd14788bd424828" /><Relationship Type="http://schemas.openxmlformats.org/officeDocument/2006/relationships/slide" Target="/ppt/slides/slide8.xml" Id="Rffe4e189705146a3" /><Relationship Type="http://schemas.openxmlformats.org/officeDocument/2006/relationships/slide" Target="/ppt/slides/slide9.xml" Id="R14e300b5fab94ce6" /><Relationship Type="http://schemas.openxmlformats.org/officeDocument/2006/relationships/slide" Target="/ppt/slides/slide10.xml" Id="R6c8e486840c9418a" /><Relationship Type="http://schemas.openxmlformats.org/officeDocument/2006/relationships/slide" Target="/ppt/slides/slide11.xml" Id="R0a56b9202d29418b" /><Relationship Type="http://schemas.openxmlformats.org/officeDocument/2006/relationships/slide" Target="/ppt/slides/slide12.xml" Id="R8ba8f6d8ddd14593" /><Relationship Type="http://schemas.openxmlformats.org/officeDocument/2006/relationships/slide" Target="/ppt/slides/slide13.xml" Id="R099b41dd1d074c34" /><Relationship Type="http://schemas.openxmlformats.org/officeDocument/2006/relationships/slide" Target="/ppt/slides/slide14.xml" Id="R6fc0a6d528734f72" /><Relationship Type="http://schemas.openxmlformats.org/officeDocument/2006/relationships/slide" Target="/ppt/slides/slide15.xml" Id="R13e32650e12f4648" /><Relationship Type="http://schemas.openxmlformats.org/officeDocument/2006/relationships/slide" Target="/ppt/slides/slide16.xml" Id="Ra97b49bc435c4b5e" /><Relationship Type="http://schemas.openxmlformats.org/officeDocument/2006/relationships/slide" Target="/ppt/slides/slide17.xml" Id="R6e89179f2070471e" /><Relationship Type="http://schemas.openxmlformats.org/officeDocument/2006/relationships/slide" Target="/ppt/slides/slide18.xml" Id="R7b71f2dab6c543dd" /><Relationship Type="http://schemas.openxmlformats.org/officeDocument/2006/relationships/slide" Target="/ppt/slides/slide19.xml" Id="R88866134443e4437" /><Relationship Type="http://schemas.openxmlformats.org/officeDocument/2006/relationships/slide" Target="/ppt/slides/slide20.xml" Id="Ra5f60d63b2924b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c0f47d29e940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灵犀P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A067C"/>
      </a:accent1>
      <a:accent2>
        <a:srgbClr val="2865FF"/>
      </a:accent2>
      <a:accent3>
        <a:srgbClr val="0DDB83"/>
      </a:accent3>
      <a:accent4>
        <a:srgbClr val="58F7C0"/>
      </a:accent4>
      <a:accent5>
        <a:srgbClr val="2399FF"/>
      </a:accent5>
      <a:accent6>
        <a:srgbClr val="6ABEFF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灵犀P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0e7d2edae0454f" /><Relationship Type="http://schemas.openxmlformats.org/officeDocument/2006/relationships/notesMaster" Target="/ppt/notesMasters/notesMaster1.xml" Id="R7a11645f6b4140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3cdf3c12224d25" /><Relationship Type="http://schemas.openxmlformats.org/officeDocument/2006/relationships/notesMaster" Target="/ppt/notesMasters/notesMaster1.xml" Id="R14250266a5734c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c11a972c6e43ec" /><Relationship Type="http://schemas.openxmlformats.org/officeDocument/2006/relationships/notesMaster" Target="/ppt/notesMasters/notesMaster1.xml" Id="Refb498b24b044d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600cde428e4c2e" /><Relationship Type="http://schemas.openxmlformats.org/officeDocument/2006/relationships/notesMaster" Target="/ppt/notesMasters/notesMaster1.xml" Id="R7028cb3d2a2441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7ec13305f04a34" /><Relationship Type="http://schemas.openxmlformats.org/officeDocument/2006/relationships/notesMaster" Target="/ppt/notesMasters/notesMaster1.xml" Id="Rab1b89a71e864e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75fee438be4e81" /><Relationship Type="http://schemas.openxmlformats.org/officeDocument/2006/relationships/notesMaster" Target="/ppt/notesMasters/notesMaster1.xml" Id="R25250175b02343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bb6222d98946a3" /><Relationship Type="http://schemas.openxmlformats.org/officeDocument/2006/relationships/notesMaster" Target="/ppt/notesMasters/notesMaster1.xml" Id="Rfcb4312c749a4d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2017f713b84f8c" /><Relationship Type="http://schemas.openxmlformats.org/officeDocument/2006/relationships/notesMaster" Target="/ppt/notesMasters/notesMaster1.xml" Id="R517b3311604a49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d5a17f916943b1" /><Relationship Type="http://schemas.openxmlformats.org/officeDocument/2006/relationships/notesMaster" Target="/ppt/notesMasters/notesMaster1.xml" Id="Rd72d8559a13c4b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994cad63ad41a6" /><Relationship Type="http://schemas.openxmlformats.org/officeDocument/2006/relationships/notesMaster" Target="/ppt/notesMasters/notesMaster1.xml" Id="R1d037e6a9dfd41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a5f02721b14653" /><Relationship Type="http://schemas.openxmlformats.org/officeDocument/2006/relationships/notesMaster" Target="/ppt/notesMasters/notesMaster1.xml" Id="R265c4c1aa3b344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17e906da07400a" /><Relationship Type="http://schemas.openxmlformats.org/officeDocument/2006/relationships/notesMaster" Target="/ppt/notesMasters/notesMaster1.xml" Id="R6f5b2e967c144d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e47c5712124e03" /><Relationship Type="http://schemas.openxmlformats.org/officeDocument/2006/relationships/notesMaster" Target="/ppt/notesMasters/notesMaster1.xml" Id="R55ec540da4c14be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ef09a7ed5f4195" /><Relationship Type="http://schemas.openxmlformats.org/officeDocument/2006/relationships/notesMaster" Target="/ppt/notesMasters/notesMaster1.xml" Id="Rd41268a0e5a84b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29b240bb9444cdc" /><Relationship Type="http://schemas.openxmlformats.org/officeDocument/2006/relationships/notesMaster" Target="/ppt/notesMasters/notesMaster1.xml" Id="Rc9057f6093f845a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e9cc969a1343a6" /><Relationship Type="http://schemas.openxmlformats.org/officeDocument/2006/relationships/notesMaster" Target="/ppt/notesMasters/notesMaster1.xml" Id="R8be1fa926a4340e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d3088fc80c4d12" /><Relationship Type="http://schemas.openxmlformats.org/officeDocument/2006/relationships/notesMaster" Target="/ppt/notesMasters/notesMaster1.xml" Id="R2e2d5fdc06ea4e5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06ae8af68a42fa" /><Relationship Type="http://schemas.openxmlformats.org/officeDocument/2006/relationships/notesMaster" Target="/ppt/notesMasters/notesMaster1.xml" Id="R7171ce84fd414c0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8ce145552e44a35" /><Relationship Type="http://schemas.openxmlformats.org/officeDocument/2006/relationships/notesMaster" Target="/ppt/notesMasters/notesMaster1.xml" Id="R45366d148041404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b21cc85f1b74971" /><Relationship Type="http://schemas.openxmlformats.org/officeDocument/2006/relationships/notesMaster" Target="/ppt/notesMasters/notesMaster1.xml" Id="R24f5e97efce242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开场先说明主题来自真实报告需求。核心问题不是能否生成一份报告，而是如何把生成质量稳定下来，并让模板持续演进。</a:t>
            </a:r>
          </a:p>
          <a:p xmlns:a="http://schemas.openxmlformats.org/drawingml/2006/main">
            <a:r>
              <a:t>[资料] 用户提供 PPT 与逐字稿。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报告模板经常只是结构、口径或视觉上的小调整，但传统模式仍要求走完整的软件研发流程。问题的根源是业务模板和代码交付绑定。</a:t>
            </a:r>
          </a:p>
          <a:p xmlns:a="http://schemas.openxmlformats.org/drawingml/2006/main">
            <a:r>
              <a:t>[资料] 逐字稿第 1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低代码依赖预置组件，灵活性越高平台越复杂。AI 直接生成虽然自由，但缺少稳定边界，优秀结果难以复现。</a:t>
            </a:r>
          </a:p>
          <a:p xmlns:a="http://schemas.openxmlformats.org/drawingml/2006/main">
            <a:r>
              <a:t>[资料] 逐字稿第 1-2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本方案集中解决三个问题：变更依赖发版、跨场景复用困难、AI 输出方差过大。后续所有设计都围绕这三个问题展开。</a:t>
            </a:r>
          </a:p>
          <a:p xmlns:a="http://schemas.openxmlformats.org/drawingml/2006/main">
            <a:r>
              <a:t>[资料] 逐字稿第 2-3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即模板并不是一句简单指令，而是一套能够描述内容结构、业务语义和视觉规则的结构化资产。它可以独立于业务代码进行维护。</a:t>
            </a:r>
          </a:p>
          <a:p xmlns:a="http://schemas.openxmlformats.org/drawingml/2006/main">
            <a:r>
              <a:t>[资料] 逐字稿第 3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完整模板拆成 Report-skill 和 Design-skill。前者负责报告讲什么，后者负责如何呈现，二者解耦后才能形成组合复用。</a:t>
            </a:r>
          </a:p>
          <a:p xmlns:a="http://schemas.openxmlformats.org/drawingml/2006/main">
            <a:r>
              <a:t>[资料] 逐字稿第 3-4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PDF 第 2-4 页：整体架构、Agent 服务、模板管理台、前端交互、后端数据</a:t>
            </a:r>
          </a:p>
          <a:p xmlns:a="http://schemas.openxmlformats.org/drawingml/2006/main">
            <a:r>
              <a:t>- 补充图：codex-clipboard-d0a13f99-c5c2-443f-8997-2b8b4d5a1410.png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左侧模板工作台负责把专业经验变成模板资产，右侧报告工作台负责消费模板并生成结果。生成效果再反向推动模板调整，形成闭环。</a:t>
            </a:r>
          </a:p>
          <a:p xmlns:a="http://schemas.openxmlformats.org/drawingml/2006/main">
            <a:r>
              <a:t>[资料] 当前项目模板编辑页、Agent 工作流与 design-output 报告预览。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 Agent 不直接自由改库。它先判断操作类型，再检查资料和覆盖风险，生成候选后经过评价、修正和双层校验，最后才按版本保护写入。</a:t>
            </a:r>
          </a:p>
          <a:p xmlns:a="http://schemas.openxmlformats.org/drawingml/2006/main">
            <a:r>
              <a:t>[资料] src/lib/template-agent/workflow.ts。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Report-skill 使用八个业务字段。数据需求与计算口径并没有被拆成孤立字段，而是通过变量、结构和规则共同表达，确保它们与最终报告结构绑定。</a:t>
            </a:r>
          </a:p>
          <a:p xmlns:a="http://schemas.openxmlformats.org/drawingml/2006/main">
            <a:r>
              <a:t>[资料] src/lib/template-agent/types.ts、schema.ts、generate-report-v2.md。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Design-skill 可以从设计平台、既有报告或参考图中提取。参考图需要多模态模型。最终形成的设计规范可以与不同 Report-skill 自由组合。</a:t>
            </a:r>
          </a:p>
          <a:p xmlns:a="http://schemas.openxmlformats.org/drawingml/2006/main">
            <a:r>
              <a:t>[资料] 逐字稿第 4-5、7 页；用户补充方案。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运行时把用户需求、内容模板、设计语言和数据工具交给报告 Agent，最终生成可预览的 HTML。招商智能体 POC 已验证这条路径具备现实可行性。</a:t>
            </a:r>
          </a:p>
          <a:p xmlns:a="http://schemas.openxmlformats.org/drawingml/2006/main">
            <a:r>
              <a:t>[资料] 用户补充信息；design-output 报告样例。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第一项价值是把常见模板变更从软件开发任务转成内容维护任务。新场景也可以从现有模板出发补充，而不是重建完整生成链路。</a:t>
            </a:r>
          </a:p>
          <a:p xmlns:a="http://schemas.openxmlformats.org/drawingml/2006/main">
            <a:r>
              <a:t>[资料] 逐字稿第 8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第二项价值来自 Design-skill。设计团队维护语言和规范，Agent 根据受众与场景落实为具体页面，UI 不需要为每份报告重新作图。</a:t>
            </a:r>
          </a:p>
          <a:p xmlns:a="http://schemas.openxmlformats.org/drawingml/2006/main">
            <a:r>
              <a:t>[资料] 用户补充思想。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 Skill 把结构、口径、异常和交付检查变成明确边界。生成后的验证与预览继续降低质量风险，招商 POC 提供了端到端证据。</a:t>
            </a:r>
          </a:p>
          <a:p xmlns:a="http://schemas.openxmlformats.org/drawingml/2006/main">
            <a:r>
              <a:t>[资料] 项目 Agent 工作流；用户补充 POC 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业务、设计、数据和平台研发分别沉淀自己最专业的部分。Agent 负责组合这些资产，既减少重复建设，也降低关键经验只存在于个人或单一项目中的风险。</a:t>
            </a:r>
          </a:p>
          <a:p xmlns:a="http://schemas.openxmlformats.org/drawingml/2006/main">
            <a:r>
              <a:t>[资料] 完整方案综合判断。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当前已经完成可行性验证和 Report-skill 管理，答辩前补齐 /chat 的生成与预览。下一阶段重点建设 Design-skill、数据工具和更多业务场景。</a:t>
            </a:r>
          </a:p>
          <a:p xmlns:a="http://schemas.openxmlformats.org/drawingml/2006/main">
            <a:r>
              <a:t>[资料] 用户补充实施计划。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结尾回到主题：Prompt 即模板的真正价值，是让报告结构、设计语言和数据能力成为可以持续积累和重新组合的组织资产。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9ad929aa464f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0f3bd29ff4c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c3247fd774c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62039dce54a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f1123ee5564c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316282d54440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9374175ab34e2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bf4418cf644dd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b8e02ffd5e431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eff8a72174b83" /><Relationship Type="http://schemas.openxmlformats.org/officeDocument/2006/relationships/image" Target="/ppt/media/image2.jpeg" Id="R0869027658664eaf" /><Relationship Type="http://schemas.openxmlformats.org/officeDocument/2006/relationships/image" Target="/ppt/media/image.png" Id="R0236bf98a2e0463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6d2148cd7141eb" /><Relationship Type="http://schemas.openxmlformats.org/officeDocument/2006/relationships/image" Target="/ppt/media/image3.jpeg" Id="R804691db03a545e6" /><Relationship Type="http://schemas.openxmlformats.org/officeDocument/2006/relationships/image" Target="/ppt/media/image2.png" Id="R93d388948925465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ffb714f81423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a4e2f334cc404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77011c6c44f7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3343a51f3423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ff422c32ed416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2e2a536bc466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206f81634441b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c74ceec80846c4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04ae9deab4b73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571e150cd8447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2034011ba433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6cf12b6d24672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b385ff82c64b85" /><Relationship Type="http://schemas.openxmlformats.org/officeDocument/2006/relationships/image" Target="/ppt/media/image4.jpeg" Id="R61b77bffc6a54f76" /><Relationship Type="http://schemas.openxmlformats.org/officeDocument/2006/relationships/image" Target="/ppt/media/image5.jpeg" Id="R85c05338c7d444de" /><Relationship Type="http://schemas.openxmlformats.org/officeDocument/2006/relationships/image" Target="/ppt/media/image.png" Id="Ra9a61a70343745d4" /></Relationships>
</file>

<file path=ppt/slideLayouts/slideLayout1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014541C-C71D-418A-8A7C-5519930D6C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1800" y="463640"/>
            <a:ext cx="5664200" cy="47730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400" b="1" i="0">
                <a:solidFill>
                  <a:srgbClr val="0B077D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5722CE5-3BBD-4B66-9EE4-23CD5C68B7B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27FEA49-9475-4DBB-BCF0-4BA59CF523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FC52E55-FDE0-444F-8374-766ED91BE2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FC1ABB9-0ED7-465A-8A36-4131B9B68F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16A4E25-FF7D-464F-91EC-9B09CF8E92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A82852F-4CDB-4C4C-9D45-486E44C67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89A0E09-541B-4B44-B1C2-D170B7AC427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91B01A8-19AF-41D2-A2C6-8126E0AB64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8EBC499-7933-45C6-A3DA-2C1F94C328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0D2A68C-FC5A-47E4-815C-5D785A6C5A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5BF9181-01E7-4815-A1B3-3FA356F001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DD3E55-3FF8-4A72-8854-B9D9AF3787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46DAC69-97BB-478A-B7DD-557249C3AE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5E7A8BF-8C09-4E6D-B04F-F004752AEA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8362E70-CD88-48E4-9C26-1A5F06247F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9FE9EF6-7EFA-4DDF-9F7F-79A339CFCD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C471CD6-3CD0-4615-ABDD-8A9E5BDD3D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9AC7F8D-2279-4CD0-A7A7-0086805E9AC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A163935-1D8E-4943-9DCD-40FFAF8A30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05E29F3-34BF-4366-B308-9B61BF1C12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2DE18E0-8FD0-484C-82FA-C82EC1403A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7A48BB9-D6B4-4106-BCE8-2CC4782B06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A4CE9F7-C18B-419D-A7B6-C5EA8A5E8B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57A6625-E028-46DF-82C7-173FC85D994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D74705C0-5488-42C1-8E59-16AE8A8A2A6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1A9278C-6F0D-48A8-AAFE-65CA1FE2E93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0A91FBE-27F7-41BA-B9C0-FF49B8DFD2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08BC121-692D-4A49-952B-0CF8C5066E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F0BAE2C-AA63-4B6B-B068-90711E3769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F60064E-C82B-4CE4-A25B-7ABE1B0903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C99B6978-60A9-4664-8C93-259A479840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D8970D2B-6866-47EE-9544-327977A0D2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5A4B4B2-7AF7-4871-93A2-4C7297758B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C0471DE-DEFE-4344-BF32-0C1DDB86991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3F6471C-D130-4EC2-A9C4-59B77E8ABC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4CFBFEA-36EC-468E-B9F6-5706E921C8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850333E-6505-4EF8-B681-DCF6810DC9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BB8310C-5C0D-48BA-83EF-A7A0962FD6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B778635-E283-4D52-BD59-54390C2728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4300575-EE03-47E7-9131-F3AFBEC5EAD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75CD04B-FDEB-4FAA-BA55-DDE9632961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69C4B09-B292-4BC0-95F5-9AC60DC48E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900D44B-4174-4E28-A0AC-DAE25BB434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F757CD0-0886-4696-BD3D-331D77E571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9027658664e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6bf98a2e04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5209" y="324549"/>
            <a:ext cx="1053245" cy="55422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userDrawn="1">
  <p:cSld name="篇章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691db03a545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0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38894892546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1490" y="324549"/>
            <a:ext cx="878854" cy="462459"/>
          </a:xfrm>
          <a:prstGeom xmlns:a="http://schemas.openxmlformats.org/drawingml/2006/main" prst="rect">
            <a:avLst/>
          </a:prstGeom>
        </p:spPr>
      </p:pic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9DD0FF33-49CC-4777-BB07-34A3216D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166" y="1977330"/>
            <a:ext cx="153423" cy="1534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E88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EFC59DB2-E58C-4ADF-9811-03901CE537C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032669" y="2628344"/>
            <a:ext cx="6048619" cy="73866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4000" b="1" i="0">
                <a:solidFill>
                  <a:srgbClr val="09057C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7200"/>
            </a:lvl2pPr>
            <a:lvl3pPr>
              <a:buNone/>
              <a:defRPr sz="7200"/>
            </a:lvl3pPr>
            <a:lvl4pPr>
              <a:buNone/>
              <a:defRPr sz="7200"/>
            </a:lvl4pPr>
            <a:lvl5pPr>
              <a:buNone/>
              <a:defRPr sz="7200"/>
            </a:lvl5pPr>
          </a:lstStyle>
          <a:p xmlns:a="http://schemas.openxmlformats.org/drawingml/2006/main">
            <a:pPr lvl="0">
              <a:buNone/>
            </a:pPr>
            <a:r>
              <a:t>这里是一个标题文字</a:t>
            </a:r>
          </a:p>
        </p:txBody>
      </p:sp>
      <p:sp>
        <p:nvSpPr>
          <p:cNvPr id="26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168198D0-ED72-4698-8595-D59EB884A6B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032669" y="3644007"/>
            <a:ext cx="6048619" cy="4616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000" b="0" i="0">
                <a:solidFill>
                  <a:srgbClr val="09057C"/>
                </a:solidFill>
                <a:latin typeface="微软雅黑"/>
                <a:ea typeface="微软雅黑"/>
                <a:cs typeface="微软雅黑"/>
              </a:defRPr>
            </a:lvl1pPr>
            <a:lvl2pPr>
              <a:buNone/>
              <a:defRPr sz="7200"/>
            </a:lvl2pPr>
            <a:lvl3pPr>
              <a:buNone/>
              <a:defRPr sz="7200"/>
            </a:lvl3pPr>
            <a:lvl4pPr>
              <a:buNone/>
              <a:defRPr sz="7200"/>
            </a:lvl4pPr>
            <a:lvl5pPr>
              <a:buNone/>
              <a:defRPr sz="7200"/>
            </a:lvl5pPr>
          </a:lstStyle>
          <a:p xmlns:a="http://schemas.openxmlformats.org/drawingml/2006/main">
            <a:pPr lvl="0">
              <a:buNone/>
            </a:pPr>
            <a:r>
              <a:t>THIS</a:t>
            </a:r>
            <a:r>
              <a:t> </a:t>
            </a:r>
            <a:r>
              <a:t>IS</a:t>
            </a:r>
            <a:r>
              <a:t> </a:t>
            </a:r>
            <a:r>
              <a:t>ONE</a:t>
            </a:r>
            <a:r>
              <a:t> </a:t>
            </a:r>
            <a:r>
              <a:t>TITLE</a:t>
            </a:r>
            <a:r>
              <a:t> </a:t>
            </a:r>
            <a:r>
              <a:t>CHARACTER</a:t>
            </a:r>
          </a:p>
        </p:txBody>
      </p:sp>
      <p:sp>
        <p:nvSpPr>
          <p:cNvPr id="2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EA6DF5A8-4109-4B3E-8814-031F6C861F1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400480" y="2141925"/>
            <a:ext cx="3031599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91440" tIns="45720" rIns="91440" bIns="45720">
            <a:spAutoFit/>
          </a:bodyPr>
          <a:lstStyle xmlns:a="http://schemas.openxmlformats.org/drawingml/2006/main">
            <a:lvl1pPr marL="0" indent="0">
              <a:buNone/>
              <a:defRPr sz="18000" b="1">
                <a:gradFill>
                  <a:gsLst>
                    <a:gs pos="0">
                      <a:srgbClr val="2889FF"/>
                    </a:gs>
                    <a:gs pos="98000">
                      <a:schemeClr val="bg1">
                        <a:alpha val="0"/>
                      </a:schemeClr>
                    </a:gs>
                  </a:gsLst>
                  <a:lin ang="5400000" scaled="0"/>
                </a:gradFill>
              </a:defRPr>
            </a:lvl1pPr>
            <a:lvl2pPr>
              <a:buNone/>
              <a:defRPr sz="7200"/>
            </a:lvl2pPr>
            <a:lvl3pPr>
              <a:buNone/>
              <a:defRPr sz="7200"/>
            </a:lvl3pPr>
            <a:lvl4pPr>
              <a:buNone/>
              <a:defRPr sz="7200"/>
            </a:lvl4pPr>
            <a:lvl5pPr>
              <a:buNone/>
              <a:defRPr sz="7200"/>
            </a:lvl5pPr>
          </a:lstStyle>
          <a:p xmlns:a="http://schemas.openxmlformats.org/drawingml/2006/main">
            <a:pPr marL="0" lvl="0" indent="0">
              <a:buNone/>
            </a:pPr>
            <a:r>
              <a:t>01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F0FFC05-1A2B-4B5F-91F6-C490FCE644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C0BEB68-3DA6-4A89-B4B3-B924BB2973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B448158-DC86-4C92-AA9E-8A00260552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FAA70B7-B2F4-4F1D-8233-59AE8DB532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06114AC-9295-4186-A80C-2E2A346836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D7917046-53ED-4DEC-97A6-51253E06C4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D739549-B541-447B-8071-18F592C6F91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Click to add title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A97A618-1BEE-42F7-88B1-6BB4C4999D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1154CFF-660A-4424-853D-1AD0F9CD82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B7ED043-D7FC-42C9-96C0-8466EB14C8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CDC9861-C787-4FAC-920E-BB6A60E484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23B8F86-1FD1-466D-85C5-93F3DFDCCA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3CBBEAF-E872-4AA7-B503-E995557134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EEB9ADA-FA72-4C13-ABCB-7DE695D6E2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059528E-FFC7-41B9-A0F4-43614C1338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673EF35-4741-48B3-AACD-D42E19A7513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E249DFB-003D-4919-9B74-755D6FDB7E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1E030C3-1CE9-41BA-8425-713854159F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F59186A-1333-4116-9187-4E181CF190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FA76150-18F8-4BB9-8C3A-979F4D63CA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0BC6FA1-EAF6-4117-A363-F3D4CCB9E1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E2FCD67C-E612-427C-AFA4-49DBA37530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B98DB992-9414-4E21-A2DF-4E2B32ED1D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E0859BC-55FB-4469-939B-080AD98EED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1D7A00C-F758-4216-B442-5567FB36B4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0D34BEF-2A88-4894-A443-B77ECEA766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9D72B05-9D37-40CF-80A0-36237475AE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D1BA565-F0AF-400D-B64F-91239868E4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D9523E8-A904-4B5C-B90A-F3A0731598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15928F-60AC-494F-AF39-0D4A16B6730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EC33DE4-6C90-4A06-9DDC-8B77DB7992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CB17F7B-C71E-4E9E-ABAA-137AB46807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8D7B9AB-8265-4F91-9D8B-7F71530A8B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9C54F5C-A23A-40BA-9496-411BF019D2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FE5C3FD4-7EDB-4395-9320-7F8A0F6DC7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F15C78C-ABD2-4B43-B544-D6B93A39BF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E9BA7BE-A459-487C-A49E-F58FCC2F86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05EC6A1A-EF54-4D71-ACAC-8641E93C18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39D8BC5-FD46-4B59-8362-EDD46135E6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65CD37F-961A-4E0A-8E96-ADEF49EB09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380FFF6-0F3F-4E29-8724-CE55E3E2B94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55B854C-7412-43C8-8ECA-61601D0697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387B118-88F6-48FC-8194-4C37D9F048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EDCE38D-0F72-4B0B-8D68-A72ACBB019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408C47-3FD6-4401-BE21-20CF35B6B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77bffc6a54f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05338c7d444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61a70343745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5209" y="324549"/>
            <a:ext cx="1053245" cy="554225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b58ff05d3bb64147" /><Relationship Type="http://schemas.openxmlformats.org/officeDocument/2006/relationships/image" Target="/ppt/media/image.png" Id="R38127a26c6494f73" /><Relationship Type="http://schemas.openxmlformats.org/officeDocument/2006/relationships/theme" Target="/ppt/slideMasters/theme/theme2.xml" Id="Rcf7068530827444e" /><Relationship Type="http://schemas.openxmlformats.org/officeDocument/2006/relationships/slideLayout" Target="/ppt/slideLayouts/slideLayout1.xml" Id="R636e694c4c2e4d9b" /><Relationship Type="http://schemas.openxmlformats.org/officeDocument/2006/relationships/slideLayout" Target="/ppt/slideLayouts/slideLayout2.xml" Id="R9a359e39225e408f" /><Relationship Type="http://schemas.openxmlformats.org/officeDocument/2006/relationships/slideLayout" Target="/ppt/slideLayouts/slideLayout3.xml" Id="Rb2f59e7e65b74526" /><Relationship Type="http://schemas.openxmlformats.org/officeDocument/2006/relationships/slideLayout" Target="/ppt/slideLayouts/slideLayout4.xml" Id="Rfb7e115517684107" /><Relationship Type="http://schemas.openxmlformats.org/officeDocument/2006/relationships/slideLayout" Target="/ppt/slideLayouts/slideLayout5.xml" Id="R23b8684f96644f8d" /><Relationship Type="http://schemas.openxmlformats.org/officeDocument/2006/relationships/slideLayout" Target="/ppt/slideLayouts/slideLayout6.xml" Id="Ra79327c3cf7f4953" /><Relationship Type="http://schemas.openxmlformats.org/officeDocument/2006/relationships/slideLayout" Target="/ppt/slideLayouts/slideLayout7.xml" Id="Rd676403c079e426c" /><Relationship Type="http://schemas.openxmlformats.org/officeDocument/2006/relationships/slideLayout" Target="/ppt/slideLayouts/slideLayout8.xml" Id="Ra659a8ddfb0a43ed" /><Relationship Type="http://schemas.openxmlformats.org/officeDocument/2006/relationships/slideLayout" Target="/ppt/slideLayouts/slideLayout9.xml" Id="Rb3ac932929124fd5" /><Relationship Type="http://schemas.openxmlformats.org/officeDocument/2006/relationships/slideLayout" Target="/ppt/slideLayouts/slideLayout10.xml" Id="R793ea7254105419d" /><Relationship Type="http://schemas.openxmlformats.org/officeDocument/2006/relationships/slideLayout" Target="/ppt/slideLayouts/slideLayout11.xml" Id="R0cd3fa2cc9494650" /><Relationship Type="http://schemas.openxmlformats.org/officeDocument/2006/relationships/slideLayout" Target="/ppt/slideLayouts/slideLayout12.xml" Id="Reca7175907c148e9" /><Relationship Type="http://schemas.openxmlformats.org/officeDocument/2006/relationships/slideLayout" Target="/ppt/slideLayouts/slideLayout13.xml" Id="Rbb14d02e49bc446f" /><Relationship Type="http://schemas.openxmlformats.org/officeDocument/2006/relationships/slideLayout" Target="/ppt/slideLayouts/slideLayout14.xml" Id="Rf000e8e778a1484c" /><Relationship Type="http://schemas.openxmlformats.org/officeDocument/2006/relationships/slideLayout" Target="/ppt/slideLayouts/slideLayout15.xml" Id="R85a6d5182d4d4398" /><Relationship Type="http://schemas.openxmlformats.org/officeDocument/2006/relationships/slideLayout" Target="/ppt/slideLayouts/slideLayout16.xml" Id="Rd4a658cf3ff64022" /><Relationship Type="http://schemas.openxmlformats.org/officeDocument/2006/relationships/slideLayout" Target="/ppt/slideLayouts/slideLayout17.xml" Id="Rd26c621ee2fe4a13" /><Relationship Type="http://schemas.openxmlformats.org/officeDocument/2006/relationships/slideLayout" Target="/ppt/slideLayouts/slideLayout18.xml" Id="R9901e29b8bc74906" /><Relationship Type="http://schemas.openxmlformats.org/officeDocument/2006/relationships/slideLayout" Target="/ppt/slideLayouts/slideLayout19.xml" Id="R9b350e6f5ef64d5a" /><Relationship Type="http://schemas.openxmlformats.org/officeDocument/2006/relationships/slideLayout" Target="/ppt/slideLayouts/slideLayout20.xml" Id="Rb339d556cf90431a" /><Relationship Type="http://schemas.openxmlformats.org/officeDocument/2006/relationships/slideLayout" Target="/ppt/slideLayouts/slideLayout21.xml" Id="R52879edcc1af4a49" /><Relationship Type="http://schemas.openxmlformats.org/officeDocument/2006/relationships/slideLayout" Target="/ppt/slideLayouts/slideLayout22.xml" Id="R59643ad802934e7d" /><Relationship Type="http://schemas.openxmlformats.org/officeDocument/2006/relationships/slideLayout" Target="/ppt/slideLayouts/slideLayout23.xml" Id="R57f8061b7af84ab8" /><Relationship Type="http://schemas.openxmlformats.org/officeDocument/2006/relationships/slideLayout" Target="/ppt/slideLayouts/slideLayout24.xml" Id="R33b6dfa3a2cc49d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ff05d3bb641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1725E78-BF16-4349-9BB4-C57BF93C1C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CD3145B-C2F9-4336-9681-603D598ECC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E0F3139-13B2-4A94-A5A1-4A69EF960FB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3D75834-ECCA-4E7E-BA62-0A3C008F2C2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20EB4A0-2D3F-4BF8-A987-6EAC034CB63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pic>
        <p:nvPicPr>
          <p:cNvPr id="15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27a26c6494f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1490" y="324549"/>
            <a:ext cx="878854" cy="462459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6e694c4c2e4d9b"/>
    <p:sldLayoutId xmlns:r="http://schemas.openxmlformats.org/officeDocument/2006/relationships" id="2147483650" r:id="R9a359e39225e408f"/>
    <p:sldLayoutId xmlns:r="http://schemas.openxmlformats.org/officeDocument/2006/relationships" id="2147483651" r:id="Rb2f59e7e65b74526"/>
    <p:sldLayoutId xmlns:r="http://schemas.openxmlformats.org/officeDocument/2006/relationships" id="2147483652" r:id="Rfb7e115517684107"/>
    <p:sldLayoutId xmlns:r="http://schemas.openxmlformats.org/officeDocument/2006/relationships" id="2147483653" r:id="R23b8684f96644f8d"/>
    <p:sldLayoutId xmlns:r="http://schemas.openxmlformats.org/officeDocument/2006/relationships" id="2147483654" r:id="Ra79327c3cf7f4953"/>
    <p:sldLayoutId xmlns:r="http://schemas.openxmlformats.org/officeDocument/2006/relationships" id="2147483655" r:id="Rd676403c079e426c"/>
    <p:sldLayoutId xmlns:r="http://schemas.openxmlformats.org/officeDocument/2006/relationships" id="2147483656" r:id="Ra659a8ddfb0a43ed"/>
    <p:sldLayoutId xmlns:r="http://schemas.openxmlformats.org/officeDocument/2006/relationships" id="2147483657" r:id="Rb3ac932929124fd5"/>
    <p:sldLayoutId xmlns:r="http://schemas.openxmlformats.org/officeDocument/2006/relationships" id="2147483658" r:id="R793ea7254105419d"/>
    <p:sldLayoutId xmlns:r="http://schemas.openxmlformats.org/officeDocument/2006/relationships" id="2147483659" r:id="R0cd3fa2cc9494650"/>
    <p:sldLayoutId xmlns:r="http://schemas.openxmlformats.org/officeDocument/2006/relationships" id="2147483660" r:id="Reca7175907c148e9"/>
    <p:sldLayoutId xmlns:r="http://schemas.openxmlformats.org/officeDocument/2006/relationships" id="2147483661" r:id="Rbb14d02e49bc446f"/>
    <p:sldLayoutId xmlns:r="http://schemas.openxmlformats.org/officeDocument/2006/relationships" id="2147483662" r:id="Rf000e8e778a1484c"/>
    <p:sldLayoutId xmlns:r="http://schemas.openxmlformats.org/officeDocument/2006/relationships" id="2147483663" r:id="R85a6d5182d4d4398"/>
    <p:sldLayoutId xmlns:r="http://schemas.openxmlformats.org/officeDocument/2006/relationships" id="2147483664" r:id="Rd4a658cf3ff64022"/>
    <p:sldLayoutId xmlns:r="http://schemas.openxmlformats.org/officeDocument/2006/relationships" id="2147483665" r:id="Rd26c621ee2fe4a13"/>
    <p:sldLayoutId xmlns:r="http://schemas.openxmlformats.org/officeDocument/2006/relationships" id="2147483666" r:id="R9901e29b8bc74906"/>
    <p:sldLayoutId xmlns:r="http://schemas.openxmlformats.org/officeDocument/2006/relationships" id="2147483667" r:id="R9b350e6f5ef64d5a"/>
    <p:sldLayoutId xmlns:r="http://schemas.openxmlformats.org/officeDocument/2006/relationships" id="2147483668" r:id="Rb339d556cf90431a"/>
    <p:sldLayoutId xmlns:r="http://schemas.openxmlformats.org/officeDocument/2006/relationships" id="2147483669" r:id="R52879edcc1af4a49"/>
    <p:sldLayoutId xmlns:r="http://schemas.openxmlformats.org/officeDocument/2006/relationships" id="2147483670" r:id="R59643ad802934e7d"/>
    <p:sldLayoutId xmlns:r="http://schemas.openxmlformats.org/officeDocument/2006/relationships" id="2147483671" r:id="R57f8061b7af84ab8"/>
    <p:sldLayoutId xmlns:r="http://schemas.openxmlformats.org/officeDocument/2006/relationships" id="2147483672" r:id="R33b6dfa3a2cc49d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灵犀P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A067C"/>
      </a:accent1>
      <a:accent2>
        <a:srgbClr val="2865FF"/>
      </a:accent2>
      <a:accent3>
        <a:srgbClr val="0DDB83"/>
      </a:accent3>
      <a:accent4>
        <a:srgbClr val="58F7C0"/>
      </a:accent4>
      <a:accent5>
        <a:srgbClr val="2399FF"/>
      </a:accent5>
      <a:accent6>
        <a:srgbClr val="6ABEFF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灵犀P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a26cde7f249743a3" /><Relationship Type="http://schemas.openxmlformats.org/officeDocument/2006/relationships/notesSlide" Target="/ppt/notesSlides/notesSlide1.xml" Id="R4914d0f505d543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25818f14b24ad8" /><Relationship Type="http://schemas.openxmlformats.org/officeDocument/2006/relationships/notesSlide" Target="/ppt/notesSlides/notesSlide2.xml" Id="R454211b56e6c4d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913e57fde94783" /><Relationship Type="http://schemas.openxmlformats.org/officeDocument/2006/relationships/notesSlide" Target="/ppt/notesSlides/notesSlide3.xml" Id="Re73806c2943b4e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c4812521eb4777" /><Relationship Type="http://schemas.openxmlformats.org/officeDocument/2006/relationships/notesSlide" Target="/ppt/notesSlides/notesSlide4.xml" Id="R58644fcc12544f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2929eef8df48d4" /><Relationship Type="http://schemas.openxmlformats.org/officeDocument/2006/relationships/notesSlide" Target="/ppt/notesSlides/notesSlide5.xml" Id="R9bb7f634c6ad47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1825befe2e4d64" /><Relationship Type="http://schemas.openxmlformats.org/officeDocument/2006/relationships/notesSlide" Target="/ppt/notesSlides/notesSlide6.xml" Id="Rbfb64d1ba4ba45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4b5eb5bf554839" /><Relationship Type="http://schemas.openxmlformats.org/officeDocument/2006/relationships/notesSlide" Target="/ppt/notesSlides/notesSlide7.xml" Id="R7ce32ef2e4d140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663f2cd0434123" /><Relationship Type="http://schemas.openxmlformats.org/officeDocument/2006/relationships/notesSlide" Target="/ppt/notesSlides/notesSlide8.xml" Id="Re5b563c08c9c48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93a7d2745a4dd8" /><Relationship Type="http://schemas.openxmlformats.org/officeDocument/2006/relationships/notesSlide" Target="/ppt/notesSlides/notesSlide9.xml" Id="R348a8c1e2fd34b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3d84bb8a7d4e07" /><Relationship Type="http://schemas.openxmlformats.org/officeDocument/2006/relationships/notesSlide" Target="/ppt/notesSlides/notesSlide10.xml" Id="R637ab6a6e9e34c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1efff6976c49d5" /><Relationship Type="http://schemas.openxmlformats.org/officeDocument/2006/relationships/notesSlide" Target="/ppt/notesSlides/notesSlide11.xml" Id="Ra5376a868de746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884d6111874c1a" /><Relationship Type="http://schemas.openxmlformats.org/officeDocument/2006/relationships/notesSlide" Target="/ppt/notesSlides/notesSlide12.xml" Id="R3f27e965dbbf4a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a96cd5f2b24304" /><Relationship Type="http://schemas.openxmlformats.org/officeDocument/2006/relationships/notesSlide" Target="/ppt/notesSlides/notesSlide13.xml" Id="Rea68891a33fc4c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a6cabbffc548a5" /><Relationship Type="http://schemas.openxmlformats.org/officeDocument/2006/relationships/notesSlide" Target="/ppt/notesSlides/notesSlide14.xml" Id="R2e0546f2ed6547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bf4c798dce4a0e" /><Relationship Type="http://schemas.openxmlformats.org/officeDocument/2006/relationships/notesSlide" Target="/ppt/notesSlides/notesSlide15.xml" Id="Rb43eadbb7bd44d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5b605f1a0c4d51" /><Relationship Type="http://schemas.openxmlformats.org/officeDocument/2006/relationships/notesSlide" Target="/ppt/notesSlides/notesSlide16.xml" Id="R5f0e160f7fb346d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e9a0c031ae4d2c" /><Relationship Type="http://schemas.openxmlformats.org/officeDocument/2006/relationships/notesSlide" Target="/ppt/notesSlides/notesSlide17.xml" Id="R50a18205c74b4d6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89ff4d4a2e46be" /><Relationship Type="http://schemas.openxmlformats.org/officeDocument/2006/relationships/notesSlide" Target="/ppt/notesSlides/notesSlide18.xml" Id="Rd45cb670c6fd4e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b8d6bab5f64961" /><Relationship Type="http://schemas.openxmlformats.org/officeDocument/2006/relationships/notesSlide" Target="/ppt/notesSlides/notesSlide19.xml" Id="Raf5a624d20ec4f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8eecb9f04640c4" /><Relationship Type="http://schemas.openxmlformats.org/officeDocument/2006/relationships/image" Target="/ppt/media/image5.jpeg" Id="Ra60acc19b2a24f78" /><Relationship Type="http://schemas.openxmlformats.org/officeDocument/2006/relationships/image" Target="/ppt/media/image2.png" Id="Ra927351d282d47b5" /><Relationship Type="http://schemas.openxmlformats.org/officeDocument/2006/relationships/notesSlide" Target="/ppt/notesSlides/notesSlide20.xml" Id="R5e5ac75ef949409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EFF4E4A-F118-47C8-8FCE-6F637060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" y="6160135"/>
            <a:ext cx="3048000" cy="33147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1">
            <a:gsLst>
              <a:gs pos="0">
                <a:srgbClr val="BCDDFF">
                  <a:alpha val="20000"/>
                </a:srgbClr>
              </a:gs>
              <a:gs pos="100000">
                <a:srgbClr val="BCDDFF">
                  <a:alpha val="71000"/>
                </a:srgbClr>
              </a:gs>
            </a:gsLst>
            <a:lin ang="10800000" scaled="1"/>
            <a:tileRect/>
          </a:gradFill>
          <a:ln xmlns:a="http://schemas.openxmlformats.org/drawingml/2006/main" w="3175">
            <a:solidFill>
              <a:srgbClr val="BCEC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0" rIns="381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申报人：曲艺（</a:t>
            </a: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研发三部</a:t>
            </a: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）</a:t>
            </a:r>
            <a:endParaRPr sz="1600">
              <a:solidFill>
                <a:srgbClr val="09077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5A9536A-3427-4280-AAE8-32512951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555" y="6160013"/>
            <a:ext cx="1714500" cy="33147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1">
            <a:gsLst>
              <a:gs pos="0">
                <a:srgbClr val="19E78E"/>
              </a:gs>
              <a:gs pos="100000">
                <a:srgbClr val="BCDDFF">
                  <a:alpha val="71000"/>
                </a:srgbClr>
              </a:gs>
            </a:gsLst>
            <a:lin ang="10800000" scaled="1"/>
            <a:tileRect/>
          </a:gradFill>
          <a:ln xmlns:a="http://schemas.openxmlformats.org/drawingml/2006/main" w="3175">
            <a:solidFill>
              <a:srgbClr val="BCEC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0" rIns="381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 2026-09-20</a:t>
            </a:r>
            <a:endParaRPr sz="1600">
              <a:solidFill>
                <a:srgbClr val="09077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1D9E76E2-AB33-402C-99EB-D48D6052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9525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D83"/>
          </a:solidFill>
          <a:ln xmlns:a="http://schemas.openxmlformats.org/drawingml/2006/main" w="0">
            <a:solidFill>
              <a:srgbClr val="315D83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39DEFA-0E74-4695-A419-1A73A364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15D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315D83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1950" b="1">
              <a:solidFill>
                <a:srgbClr val="315D8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0FC04EC-7168-45B4-B402-47E57E71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838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100" b="1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rPr>
              <a:t>报告生成与模板资产化方案</a:t>
            </a:r>
            <a:endParaRPr sz="51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E83E3A9-AFC0-4C85-8A69-5C5CC7E2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让</a:t>
            </a:r>
            <a:r>
              <a:rPr sz="21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报告</a:t>
            </a:r>
            <a:r>
              <a:rPr sz="21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模板从代码实现转变为可检索、可复用、可治理的组织资产</a:t>
            </a:r>
            <a:endParaRPr sz="2100" b="0">
              <a:solidFill>
                <a:srgbClr val="6474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C38081C8-F78F-45DA-A0E5-20E036C9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2380"/>
            <a:ext cx="3531870" cy="1518285"/>
          </a:xfrm>
          <a:prstGeom xmlns:a="http://schemas.openxmlformats.org/drawingml/2006/main" prst="roundRect">
            <a:avLst>
              <a:gd name="adj" fmla="val 8654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CAD7E3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09A3CC4-C2A0-439D-877E-98247753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4528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A7D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A7D9D"/>
                </a:solidFill>
                <a:latin typeface="Hiragino Sans GB"/>
                <a:ea typeface="Hiragino Sans GB"/>
                <a:cs typeface="Hiragino Sans GB"/>
              </a:rPr>
              <a:t>核心命题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B96DC04-2A6A-495B-80B6-A1ED7F7C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45330"/>
            <a:ext cx="2967990" cy="494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150" b="1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rPr>
              <a:t>Prompt</a:t>
            </a:r>
            <a:r>
              <a:rPr sz="3150" b="1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3150" b="1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rPr>
              <a:t>即模板</a:t>
            </a:r>
            <a:endParaRPr sz="315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0021835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E4C4E76E-678E-48D3-82E1-F36A49FE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8E62841-10E6-4F00-8725-F346A041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01 · 为什么要改变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3D3710D-ED21-41E9-BB6F-D066A0C4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一次模板调整，往往要走完一轮软件发版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EFB7447-518E-4E17-B1DF-F988DFDE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BE31827-8554-4A94-935D-1F00C850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 · 内部分享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9A2CA79-3FAA-497E-A7DF-F854F605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01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s2-glow-wide">
            <a:extLst xmlns:a="http://schemas.openxmlformats.org/drawingml/2006/main">
              <a:ext uri="{FF2B5EF4-FFF2-40B4-BE49-F238E27FC236}">
                <a16:creationId xmlns:a16="http://schemas.microsoft.com/office/drawing/2014/main" id="{5BF35DE3-CCC2-40DC-9E52-45FF4C0F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933450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2-glow-core">
            <a:extLst xmlns:a="http://schemas.openxmlformats.org/drawingml/2006/main">
              <a:ext uri="{FF2B5EF4-FFF2-40B4-BE49-F238E27FC236}">
                <a16:creationId xmlns:a16="http://schemas.microsoft.com/office/drawing/2014/main" id="{8FEBB4A2-8409-43C1-BFD8-1C1BA330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114675"/>
            <a:ext cx="597408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2-track">
            <a:extLst xmlns:a="http://schemas.openxmlformats.org/drawingml/2006/main">
              <a:ext uri="{FF2B5EF4-FFF2-40B4-BE49-F238E27FC236}">
                <a16:creationId xmlns:a16="http://schemas.microsoft.com/office/drawing/2014/main" id="{56E2358D-EE97-43EA-B44D-E5F4A6DE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194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6FA5"/>
            </a:solidFill>
            <a:prstDash val="solid"/>
          </a:ln>
        </p:spPr>
      </p:sp>
      <p:sp>
        <p:nvSpPr>
          <p:cNvPr id="38" name="s2-step-1-circle">
            <a:extLst xmlns:a="http://schemas.openxmlformats.org/drawingml/2006/main">
              <a:ext uri="{FF2B5EF4-FFF2-40B4-BE49-F238E27FC236}">
                <a16:creationId xmlns:a16="http://schemas.microsoft.com/office/drawing/2014/main" id="{02B54C5B-C866-43E6-AE98-1D5E91FA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2-step-1-text">
            <a:extLst xmlns:a="http://schemas.openxmlformats.org/drawingml/2006/main">
              <a:ext uri="{FF2B5EF4-FFF2-40B4-BE49-F238E27FC236}">
                <a16:creationId xmlns:a16="http://schemas.microsoft.com/office/drawing/2014/main" id="{2580FD43-0736-4CD8-A5D6-F8EB1509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2-label-1">
            <a:extLst xmlns:a="http://schemas.openxmlformats.org/drawingml/2006/main">
              <a:ext uri="{FF2B5EF4-FFF2-40B4-BE49-F238E27FC236}">
                <a16:creationId xmlns:a16="http://schemas.microsoft.com/office/drawing/2014/main" id="{BAF192D0-C91F-4411-87FA-FB6F0FC6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业务提出修改</a:t>
            </a:r>
            <a:endParaRPr sz="12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2-step-2-circle">
            <a:extLst xmlns:a="http://schemas.openxmlformats.org/drawingml/2006/main">
              <a:ext uri="{FF2B5EF4-FFF2-40B4-BE49-F238E27FC236}">
                <a16:creationId xmlns:a16="http://schemas.microsoft.com/office/drawing/2014/main" id="{5155347F-F7A2-4ABB-8F73-35141CD7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2-step-2-text">
            <a:extLst xmlns:a="http://schemas.openxmlformats.org/drawingml/2006/main">
              <a:ext uri="{FF2B5EF4-FFF2-40B4-BE49-F238E27FC236}">
                <a16:creationId xmlns:a16="http://schemas.microsoft.com/office/drawing/2014/main" id="{04C3DCC1-6801-4DF7-8696-587FA3F6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s2-label-2">
            <a:extLst xmlns:a="http://schemas.openxmlformats.org/drawingml/2006/main">
              <a:ext uri="{FF2B5EF4-FFF2-40B4-BE49-F238E27FC236}">
                <a16:creationId xmlns:a16="http://schemas.microsoft.com/office/drawing/2014/main" id="{72B3D714-4653-4E36-A720-A6336687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产品重新确认</a:t>
            </a:r>
            <a:endParaRPr sz="125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2-step-3-circle">
            <a:extLst xmlns:a="http://schemas.openxmlformats.org/drawingml/2006/main">
              <a:ext uri="{FF2B5EF4-FFF2-40B4-BE49-F238E27FC236}">
                <a16:creationId xmlns:a16="http://schemas.microsoft.com/office/drawing/2014/main" id="{BC7F93CB-5A9A-46C5-A9C0-EF0A7EE8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2-step-3-text">
            <a:extLst xmlns:a="http://schemas.openxmlformats.org/drawingml/2006/main">
              <a:ext uri="{FF2B5EF4-FFF2-40B4-BE49-F238E27FC236}">
                <a16:creationId xmlns:a16="http://schemas.microsoft.com/office/drawing/2014/main" id="{77C7DD65-64B8-41D9-B030-F78E3305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2-label-3">
            <a:extLst xmlns:a="http://schemas.openxmlformats.org/drawingml/2006/main">
              <a:ext uri="{FF2B5EF4-FFF2-40B4-BE49-F238E27FC236}">
                <a16:creationId xmlns:a16="http://schemas.microsoft.com/office/drawing/2014/main" id="{A4E410F2-60B3-460D-8FCF-027EC07C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设计调整视觉</a:t>
            </a:r>
            <a:endParaRPr sz="125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s2-step-4-circle">
            <a:extLst xmlns:a="http://schemas.openxmlformats.org/drawingml/2006/main">
              <a:ext uri="{FF2B5EF4-FFF2-40B4-BE49-F238E27FC236}">
                <a16:creationId xmlns:a16="http://schemas.microsoft.com/office/drawing/2014/main" id="{139F785F-C068-4DE3-9293-8750839E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2-step-4-text">
            <a:extLst xmlns:a="http://schemas.openxmlformats.org/drawingml/2006/main">
              <a:ext uri="{FF2B5EF4-FFF2-40B4-BE49-F238E27FC236}">
                <a16:creationId xmlns:a16="http://schemas.microsoft.com/office/drawing/2014/main" id="{5BE68DC7-3BD2-468A-BCF4-8DC852CF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s2-label-4">
            <a:extLst xmlns:a="http://schemas.openxmlformats.org/drawingml/2006/main">
              <a:ext uri="{FF2B5EF4-FFF2-40B4-BE49-F238E27FC236}">
                <a16:creationId xmlns:a16="http://schemas.microsoft.com/office/drawing/2014/main" id="{7D48E591-F106-48B9-BDCE-AA295234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前后端改代码</a:t>
            </a:r>
            <a:endParaRPr sz="125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2-step-5-circle">
            <a:extLst xmlns:a="http://schemas.openxmlformats.org/drawingml/2006/main">
              <a:ext uri="{FF2B5EF4-FFF2-40B4-BE49-F238E27FC236}">
                <a16:creationId xmlns:a16="http://schemas.microsoft.com/office/drawing/2014/main" id="{5A82A6EC-1E6A-411E-9D01-AFEE8F93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2-step-5-text">
            <a:extLst xmlns:a="http://schemas.openxmlformats.org/drawingml/2006/main">
              <a:ext uri="{FF2B5EF4-FFF2-40B4-BE49-F238E27FC236}">
                <a16:creationId xmlns:a16="http://schemas.microsoft.com/office/drawing/2014/main" id="{64D4CC79-9B62-4334-BC75-23F2CDD5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5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s2-label-5">
            <a:extLst xmlns:a="http://schemas.openxmlformats.org/drawingml/2006/main">
              <a:ext uri="{FF2B5EF4-FFF2-40B4-BE49-F238E27FC236}">
                <a16:creationId xmlns:a16="http://schemas.microsoft.com/office/drawing/2014/main" id="{B5F01E90-4498-4FE7-BB65-6E5672BA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联调与测试</a:t>
            </a:r>
            <a:endParaRPr sz="125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2-step-6-circle">
            <a:extLst xmlns:a="http://schemas.openxmlformats.org/drawingml/2006/main">
              <a:ext uri="{FF2B5EF4-FFF2-40B4-BE49-F238E27FC236}">
                <a16:creationId xmlns:a16="http://schemas.microsoft.com/office/drawing/2014/main" id="{AA0B3463-2AB5-4954-BAC1-AF6C0F32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2-step-6-text">
            <a:extLst xmlns:a="http://schemas.openxmlformats.org/drawingml/2006/main">
              <a:ext uri="{FF2B5EF4-FFF2-40B4-BE49-F238E27FC236}">
                <a16:creationId xmlns:a16="http://schemas.microsoft.com/office/drawing/2014/main" id="{156526DB-AE15-4C70-97B3-31555486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6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s2-label-6">
            <a:extLst xmlns:a="http://schemas.openxmlformats.org/drawingml/2006/main">
              <a:ext uri="{FF2B5EF4-FFF2-40B4-BE49-F238E27FC236}">
                <a16:creationId xmlns:a16="http://schemas.microsoft.com/office/drawing/2014/main" id="{9E92E2C6-40A8-4200-828A-A0A2DFDB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部署上线</a:t>
            </a:r>
            <a:endParaRPr sz="125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2-step-7-circle">
            <a:extLst xmlns:a="http://schemas.openxmlformats.org/drawingml/2006/main">
              <a:ext uri="{FF2B5EF4-FFF2-40B4-BE49-F238E27FC236}">
                <a16:creationId xmlns:a16="http://schemas.microsoft.com/office/drawing/2014/main" id="{C25FDB42-CB7D-49E9-8957-7DDAD4C1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s2-step-7-text">
            <a:extLst xmlns:a="http://schemas.openxmlformats.org/drawingml/2006/main">
              <a:ext uri="{FF2B5EF4-FFF2-40B4-BE49-F238E27FC236}">
                <a16:creationId xmlns:a16="http://schemas.microsoft.com/office/drawing/2014/main" id="{BEC1378A-19B5-40D3-9D78-020F71A0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009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7</a:t>
            </a:r>
            <a:endParaRPr sz="13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8" name="s2-label-7">
            <a:extLst xmlns:a="http://schemas.openxmlformats.org/drawingml/2006/main">
              <a:ext uri="{FF2B5EF4-FFF2-40B4-BE49-F238E27FC236}">
                <a16:creationId xmlns:a16="http://schemas.microsoft.com/office/drawing/2014/main" id="{B9F4B30D-CAD9-44C3-B73E-8BB49B89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55282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下一次再次</a:t>
            </a:r>
            <a:endParaRPr sz="12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重复</a:t>
            </a:r>
            <a:endParaRPr sz="12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s2-root">
            <a:extLst xmlns:a="http://schemas.openxmlformats.org/drawingml/2006/main">
              <a:ext uri="{FF2B5EF4-FFF2-40B4-BE49-F238E27FC236}">
                <a16:creationId xmlns:a16="http://schemas.microsoft.com/office/drawing/2014/main" id="{E226373E-6AA8-4118-9BC2-9288692B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243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根因：模板的“业务属性”与“代码属性”强绑定。</a:t>
            </a:r>
            <a:endParaRPr sz="15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s2-main">
            <a:extLst xmlns:a="http://schemas.openxmlformats.org/drawingml/2006/main">
              <a:ext uri="{FF2B5EF4-FFF2-40B4-BE49-F238E27FC236}">
                <a16:creationId xmlns:a16="http://schemas.microsoft.com/office/drawing/2014/main" id="{069FA3D5-30B2-4185-B30E-B8555785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模板天然需要定制化和高频迭代，却仍以软件版本的方式交付。</a:t>
            </a:r>
            <a:endParaRPr sz="20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s2-sub">
            <a:extLst xmlns:a="http://schemas.openxmlformats.org/drawingml/2006/main">
              <a:ext uri="{FF2B5EF4-FFF2-40B4-BE49-F238E27FC236}">
                <a16:creationId xmlns:a16="http://schemas.microsoft.com/office/drawing/2014/main" id="{78348F93-1A77-4784-8FAF-E7705E70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每次业务调整都被转化为开发、测试与发布任务。</a:t>
            </a:r>
            <a:endParaRPr sz="14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4946917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32F8CCB1-A2F1-48F2-81BA-6EFDC0FD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8C6F406-76CE-4187-9150-467C462A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01 · 为什么要改变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77A0BD0-4960-46A4-9BAF-DCD478F7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低代码与 AI 直接生成，都只能解决部分问题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C6E3DDD-F9BD-4E11-A777-D8814CCC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63C3C86-BCDF-4BF1-AD3C-699FFABA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 · 内部分享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A5D9A56-C1D8-4256-AA8D-D4EC2D02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02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s3-left-field">
            <a:extLst xmlns:a="http://schemas.openxmlformats.org/drawingml/2006/main">
              <a:ext uri="{FF2B5EF4-FFF2-40B4-BE49-F238E27FC236}">
                <a16:creationId xmlns:a16="http://schemas.microsoft.com/office/drawing/2014/main" id="{DEFE0FD9-0B68-48D2-A3CD-CAE3C5FD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143500" cy="38360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3-right-field">
            <a:extLst xmlns:a="http://schemas.openxmlformats.org/drawingml/2006/main">
              <a:ext uri="{FF2B5EF4-FFF2-40B4-BE49-F238E27FC236}">
                <a16:creationId xmlns:a16="http://schemas.microsoft.com/office/drawing/2014/main" id="{11FD61C1-4D21-4E08-9FBB-6EE9F1F0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43500" cy="38366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3-divider">
            <a:extLst xmlns:a="http://schemas.openxmlformats.org/drawingml/2006/main">
              <a:ext uri="{FF2B5EF4-FFF2-40B4-BE49-F238E27FC236}">
                <a16:creationId xmlns:a16="http://schemas.microsoft.com/office/drawing/2014/main" id="{7B150440-AEA9-4A26-A6D8-CB4814DF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576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3-left-number">
            <a:extLst xmlns:a="http://schemas.openxmlformats.org/drawingml/2006/main">
              <a:ext uri="{FF2B5EF4-FFF2-40B4-BE49-F238E27FC236}">
                <a16:creationId xmlns:a16="http://schemas.microsoft.com/office/drawing/2014/main" id="{EC6DB98D-8E00-48FB-8B89-29DAFF29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00" b="1">
                <a:solidFill>
                  <a:srgbClr val="B984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00" b="1">
                <a:solidFill>
                  <a:srgbClr val="B9843D"/>
                </a:solidFill>
                <a:latin typeface="Hiragino Sans GB"/>
                <a:ea typeface="Hiragino Sans GB"/>
                <a:cs typeface="Hiragino Sans GB"/>
              </a:rPr>
              <a:t>01</a:t>
            </a:r>
            <a:endParaRPr sz="3100" b="1">
              <a:solidFill>
                <a:srgbClr val="B9843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s3-left-tag">
            <a:extLst xmlns:a="http://schemas.openxmlformats.org/drawingml/2006/main">
              <a:ext uri="{FF2B5EF4-FFF2-40B4-BE49-F238E27FC236}">
                <a16:creationId xmlns:a16="http://schemas.microsoft.com/office/drawing/2014/main" id="{6432D541-D863-42FC-AA8D-7B8B2D66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8669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1">
                <a:solidFill>
                  <a:srgbClr val="B984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B9843D"/>
                </a:solidFill>
                <a:latin typeface="Hiragino Sans GB"/>
                <a:ea typeface="Hiragino Sans GB"/>
                <a:cs typeface="Hiragino Sans GB"/>
              </a:rPr>
              <a:t>方案一</a:t>
            </a:r>
            <a:endParaRPr sz="1300" b="1">
              <a:solidFill>
                <a:srgbClr val="B9843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s3-left-title">
            <a:extLst xmlns:a="http://schemas.openxmlformats.org/drawingml/2006/main">
              <a:ext uri="{FF2B5EF4-FFF2-40B4-BE49-F238E27FC236}">
                <a16:creationId xmlns:a16="http://schemas.microsoft.com/office/drawing/2014/main" id="{BE53E845-3019-4EAA-BD16-6DA65C30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低代码：组件化配置</a:t>
            </a:r>
            <a:endParaRPr sz="23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3-left-flow">
            <a:extLst xmlns:a="http://schemas.openxmlformats.org/drawingml/2006/main">
              <a:ext uri="{FF2B5EF4-FFF2-40B4-BE49-F238E27FC236}">
                <a16:creationId xmlns:a16="http://schemas.microsoft.com/office/drawing/2014/main" id="{11CE03EC-F0D0-4792-A10B-CC1C112B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0">
                <a:solidFill>
                  <a:srgbClr val="B984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B9843D"/>
                </a:solidFill>
                <a:latin typeface="Hiragino Sans GB"/>
                <a:ea typeface="Hiragino Sans GB"/>
                <a:cs typeface="Hiragino Sans GB"/>
              </a:rPr>
              <a:t>预置组件与规则 → 业务人员配置组装</a:t>
            </a:r>
            <a:endParaRPr sz="1400" b="0">
              <a:solidFill>
                <a:srgbClr val="B9843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3-left-relief-label">
            <a:extLst xmlns:a="http://schemas.openxmlformats.org/drawingml/2006/main">
              <a:ext uri="{FF2B5EF4-FFF2-40B4-BE49-F238E27FC236}">
                <a16:creationId xmlns:a16="http://schemas.microsoft.com/office/drawing/2014/main" id="{1D3CC912-1829-4823-858E-62575869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能够缓解</a:t>
            </a:r>
            <a:endParaRPr sz="12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3-left-relief">
            <a:extLst xmlns:a="http://schemas.openxmlformats.org/drawingml/2006/main">
              <a:ext uri="{FF2B5EF4-FFF2-40B4-BE49-F238E27FC236}">
                <a16:creationId xmlns:a16="http://schemas.microsoft.com/office/drawing/2014/main" id="{E39AE08F-6DE6-40C6-BB08-11246B51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在标准化场景中，减少部分重复开发。</a:t>
            </a:r>
            <a:endParaRPr sz="13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s3-left-risk-label">
            <a:extLst xmlns:a="http://schemas.openxmlformats.org/drawingml/2006/main">
              <a:ext uri="{FF2B5EF4-FFF2-40B4-BE49-F238E27FC236}">
                <a16:creationId xmlns:a16="http://schemas.microsoft.com/office/drawing/2014/main" id="{DCC1402D-B59D-41F4-ACB1-95683B9B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5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主要局限</a:t>
            </a:r>
            <a:endParaRPr sz="125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3-left-risk">
            <a:extLst xmlns:a="http://schemas.openxmlformats.org/drawingml/2006/main">
              <a:ext uri="{FF2B5EF4-FFF2-40B4-BE49-F238E27FC236}">
                <a16:creationId xmlns:a16="http://schemas.microsoft.com/office/drawing/2014/main" id="{0E4CA38B-BB21-41A4-9429-5147451B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67225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• 组件有限，难满足高定制需求</a:t>
            </a:r>
            <a:endParaRPr sz="130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• 配置方式复杂</a:t>
            </a:r>
            <a:endParaRPr sz="130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• 平台本身研发成本高</a:t>
            </a:r>
            <a:endParaRPr sz="130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3-right-number">
            <a:extLst xmlns:a="http://schemas.openxmlformats.org/drawingml/2006/main">
              <a:ext uri="{FF2B5EF4-FFF2-40B4-BE49-F238E27FC236}">
                <a16:creationId xmlns:a16="http://schemas.microsoft.com/office/drawing/2014/main" id="{CEFFC7F5-78E4-4944-81AB-509E4604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907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02</a:t>
            </a:r>
            <a:endParaRPr sz="310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3-right-tag">
            <a:extLst xmlns:a="http://schemas.openxmlformats.org/drawingml/2006/main">
              <a:ext uri="{FF2B5EF4-FFF2-40B4-BE49-F238E27FC236}">
                <a16:creationId xmlns:a16="http://schemas.microsoft.com/office/drawing/2014/main" id="{C33B34D2-B0C1-4738-B724-4BD4B150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8669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方案二</a:t>
            </a:r>
            <a:endParaRPr sz="130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s3-right-title">
            <a:extLst xmlns:a="http://schemas.openxmlformats.org/drawingml/2006/main">
              <a:ext uri="{FF2B5EF4-FFF2-40B4-BE49-F238E27FC236}">
                <a16:creationId xmlns:a16="http://schemas.microsoft.com/office/drawing/2014/main" id="{710917B8-25FD-4599-8E4A-9C302E8A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81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AI 直接生成：自由生成</a:t>
            </a:r>
            <a:endParaRPr sz="23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3-right-flow">
            <a:extLst xmlns:a="http://schemas.openxmlformats.org/drawingml/2006/main">
              <a:ext uri="{FF2B5EF4-FFF2-40B4-BE49-F238E27FC236}">
                <a16:creationId xmlns:a16="http://schemas.microsoft.com/office/drawing/2014/main" id="{3FB742A5-F91A-47EB-82C5-0626D1E2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575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0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数据 + 指令 → 大模型直接输出报告</a:t>
            </a:r>
            <a:endParaRPr sz="1400" b="0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3-right-relief-label">
            <a:extLst xmlns:a="http://schemas.openxmlformats.org/drawingml/2006/main">
              <a:ext uri="{FF2B5EF4-FFF2-40B4-BE49-F238E27FC236}">
                <a16:creationId xmlns:a16="http://schemas.microsoft.com/office/drawing/2014/main" id="{5432F030-9067-4AAF-BD5C-085022AE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81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能够缓解</a:t>
            </a:r>
            <a:endParaRPr sz="12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3-right-relief">
            <a:extLst xmlns:a="http://schemas.openxmlformats.org/drawingml/2006/main">
              <a:ext uri="{FF2B5EF4-FFF2-40B4-BE49-F238E27FC236}">
                <a16:creationId xmlns:a16="http://schemas.microsoft.com/office/drawing/2014/main" id="{C96F639F-0D49-4431-A1C2-22D9C943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385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不依赖预先固化的完整模板代码。</a:t>
            </a:r>
            <a:endParaRPr sz="13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s3-right-risk-label">
            <a:extLst xmlns:a="http://schemas.openxmlformats.org/drawingml/2006/main">
              <a:ext uri="{FF2B5EF4-FFF2-40B4-BE49-F238E27FC236}">
                <a16:creationId xmlns:a16="http://schemas.microsoft.com/office/drawing/2014/main" id="{67735885-BD5B-4DA3-8742-5AD124CC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71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5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主要问题</a:t>
            </a:r>
            <a:endParaRPr sz="125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3-right-risk">
            <a:extLst xmlns:a="http://schemas.openxmlformats.org/drawingml/2006/main">
              <a:ext uri="{FF2B5EF4-FFF2-40B4-BE49-F238E27FC236}">
                <a16:creationId xmlns:a16="http://schemas.microsoft.com/office/drawing/2014/main" id="{78A07142-4A99-4151-B83F-88F77232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67225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• 交付质量一致性与稳定性不足</a:t>
            </a:r>
            <a:endParaRPr sz="130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• 模型或参数变化带来结构、风格与质量漂移</a:t>
            </a:r>
            <a:endParaRPr sz="130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• 优秀结果难以稳定复现</a:t>
            </a:r>
            <a:endParaRPr sz="1300" b="0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3-conclusion">
            <a:extLst xmlns:a="http://schemas.openxmlformats.org/drawingml/2006/main">
              <a:ext uri="{FF2B5EF4-FFF2-40B4-BE49-F238E27FC236}">
                <a16:creationId xmlns:a16="http://schemas.microsoft.com/office/drawing/2014/main" id="{01F71542-413B-4634-927E-D8475EE9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51830"/>
            <a:ext cx="986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低代码受限于组件边界，AI 直出受限于质量方差；需要兼顾灵活性、复用性与可控性。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7621559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E2BE08EB-69C5-4C01-B9E1-7792D8DB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3E45F65-2C22-4BED-9DD7-AF7938C9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01 · 为什么要改变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E42E79F-5EC3-44FC-A6A5-A7892BE1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需要解决的三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个痛点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DD5A460-941C-470D-A3F5-4DB42B7C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50AAF92-684E-404A-8D65-68E7C3FA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 · 内部分享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9957337-3384-402E-A932-D6BA5986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s4-num-1">
            <a:extLst xmlns:a="http://schemas.openxmlformats.org/drawingml/2006/main">
              <a:ext uri="{FF2B5EF4-FFF2-40B4-BE49-F238E27FC236}">
                <a16:creationId xmlns:a16="http://schemas.microsoft.com/office/drawing/2014/main" id="{C30226C9-2F74-440D-9DB8-772E6E51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01</a:t>
            </a:r>
            <a:endParaRPr sz="34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s4-line-1">
            <a:extLst xmlns:a="http://schemas.openxmlformats.org/drawingml/2006/main">
              <a:ext uri="{FF2B5EF4-FFF2-40B4-BE49-F238E27FC236}">
                <a16:creationId xmlns:a16="http://schemas.microsoft.com/office/drawing/2014/main" id="{BC133B7C-B23E-4DDD-B95F-D4DB0C71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4-title-1">
            <a:extLst xmlns:a="http://schemas.openxmlformats.org/drawingml/2006/main">
              <a:ext uri="{FF2B5EF4-FFF2-40B4-BE49-F238E27FC236}">
                <a16:creationId xmlns:a16="http://schemas.microsoft.com/office/drawing/2014/main" id="{D7131C1A-269E-4E0C-8618-729635D8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322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变更驱动代码发版</a:t>
            </a:r>
            <a:endParaRPr sz="20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s4-body-1">
            <a:extLst xmlns:a="http://schemas.openxmlformats.org/drawingml/2006/main">
              <a:ext uri="{FF2B5EF4-FFF2-40B4-BE49-F238E27FC236}">
                <a16:creationId xmlns:a16="http://schemas.microsoft.com/office/drawing/2014/main" id="{5BB2D97A-B6C9-4C1D-B0BE-7FA55C84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4095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每次样式或内容调整都要经历开发、测试、部署和上线。</a:t>
            </a:r>
            <a:endParaRPr sz="14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s4-tag-1">
            <a:extLst xmlns:a="http://schemas.openxmlformats.org/drawingml/2006/main">
              <a:ext uri="{FF2B5EF4-FFF2-40B4-BE49-F238E27FC236}">
                <a16:creationId xmlns:a16="http://schemas.microsoft.com/office/drawing/2014/main" id="{0525F7AD-0435-494D-AABE-3E30476D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0570"/>
            <a:ext cx="230568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响应慢 · 成本高</a:t>
            </a:r>
            <a:endParaRPr sz="15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4-num-2">
            <a:extLst xmlns:a="http://schemas.openxmlformats.org/drawingml/2006/main">
              <a:ext uri="{FF2B5EF4-FFF2-40B4-BE49-F238E27FC236}">
                <a16:creationId xmlns:a16="http://schemas.microsoft.com/office/drawing/2014/main" id="{DDDE60D3-4822-4AF0-A533-D81E37E2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57375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0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rPr>
              <a:t>02</a:t>
            </a:r>
            <a:endParaRPr sz="3400" b="1">
              <a:solidFill>
                <a:srgbClr val="57BDE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4-line-2">
            <a:extLst xmlns:a="http://schemas.openxmlformats.org/drawingml/2006/main">
              <a:ext uri="{FF2B5EF4-FFF2-40B4-BE49-F238E27FC236}">
                <a16:creationId xmlns:a16="http://schemas.microsoft.com/office/drawing/2014/main" id="{0975CBC9-E3AA-41E8-B765-54CE51FB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38425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4-title-2">
            <a:extLst xmlns:a="http://schemas.openxmlformats.org/drawingml/2006/main">
              <a:ext uri="{FF2B5EF4-FFF2-40B4-BE49-F238E27FC236}">
                <a16:creationId xmlns:a16="http://schemas.microsoft.com/office/drawing/2014/main" id="{089C85A9-3D70-4835-86BF-5F8DEDF2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322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跨场景复用困难</a:t>
            </a:r>
            <a:endParaRPr sz="20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s4-body-2">
            <a:extLst xmlns:a="http://schemas.openxmlformats.org/drawingml/2006/main">
              <a:ext uri="{FF2B5EF4-FFF2-40B4-BE49-F238E27FC236}">
                <a16:creationId xmlns:a16="http://schemas.microsoft.com/office/drawing/2014/main" id="{B73473D0-6FBE-47D3-8DE6-67B589F5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54095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模板与技术栈、业务代码、数据结构和渲染环境强绑定。</a:t>
            </a:r>
            <a:endParaRPr sz="14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4-tag-2">
            <a:extLst xmlns:a="http://schemas.openxmlformats.org/drawingml/2006/main">
              <a:ext uri="{FF2B5EF4-FFF2-40B4-BE49-F238E27FC236}">
                <a16:creationId xmlns:a16="http://schemas.microsoft.com/office/drawing/2014/main" id="{E1821EE8-9CD9-4FB8-8FF6-EDE0651A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920" y="2019935"/>
            <a:ext cx="209994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rPr>
              <a:t>难沉淀 · 难流转</a:t>
            </a:r>
            <a:endParaRPr sz="1500" b="1">
              <a:solidFill>
                <a:srgbClr val="57BDE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4-num-3">
            <a:extLst xmlns:a="http://schemas.openxmlformats.org/drawingml/2006/main">
              <a:ext uri="{FF2B5EF4-FFF2-40B4-BE49-F238E27FC236}">
                <a16:creationId xmlns:a16="http://schemas.microsoft.com/office/drawing/2014/main" id="{AE19E981-F2F5-4726-AAC9-5741B840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57375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34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4-line-3">
            <a:extLst xmlns:a="http://schemas.openxmlformats.org/drawingml/2006/main">
              <a:ext uri="{FF2B5EF4-FFF2-40B4-BE49-F238E27FC236}">
                <a16:creationId xmlns:a16="http://schemas.microsoft.com/office/drawing/2014/main" id="{3E49887D-E189-4286-AE5F-462CC14E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38425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4-title-3">
            <a:extLst xmlns:a="http://schemas.openxmlformats.org/drawingml/2006/main">
              <a:ext uri="{FF2B5EF4-FFF2-40B4-BE49-F238E27FC236}">
                <a16:creationId xmlns:a16="http://schemas.microsoft.com/office/drawing/2014/main" id="{BBF97E51-CA00-493E-BF84-183EE4EB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0322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AI 质量难以复现</a:t>
            </a:r>
            <a:endParaRPr sz="20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4-body-3">
            <a:extLst xmlns:a="http://schemas.openxmlformats.org/drawingml/2006/main">
              <a:ext uri="{FF2B5EF4-FFF2-40B4-BE49-F238E27FC236}">
                <a16:creationId xmlns:a16="http://schemas.microsoft.com/office/drawing/2014/main" id="{A487DC4F-BCBB-4CF2-BFB2-0F6A92AE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54095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模型和参数不同，结构、风格与质量可能完全不同。</a:t>
            </a:r>
            <a:endParaRPr sz="14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4-tag-3">
            <a:extLst xmlns:a="http://schemas.openxmlformats.org/drawingml/2006/main">
              <a:ext uri="{FF2B5EF4-FFF2-40B4-BE49-F238E27FC236}">
                <a16:creationId xmlns:a16="http://schemas.microsoft.com/office/drawing/2014/main" id="{762C169A-C4C3-4D75-83C9-E69461EB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1993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方差大 · 不稳定</a:t>
            </a:r>
            <a:endParaRPr sz="15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4-result">
            <a:extLst xmlns:a="http://schemas.openxmlformats.org/drawingml/2006/main">
              <a:ext uri="{FF2B5EF4-FFF2-40B4-BE49-F238E27FC236}">
                <a16:creationId xmlns:a16="http://schemas.microsoft.com/office/drawing/2014/main" id="{361759FC-D938-4978-A6AE-AD2AD21F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38420"/>
            <a:ext cx="1005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结果：优秀的模板经验分散在代码、Agent 流程和应用配置中，难以统一版本、评测和持续迭代。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5276388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5-axis-glow-wide">
            <a:extLst xmlns:a="http://schemas.openxmlformats.org/drawingml/2006/main">
              <a:ext uri="{FF2B5EF4-FFF2-40B4-BE49-F238E27FC236}">
                <a16:creationId xmlns:a16="http://schemas.microsoft.com/office/drawing/2014/main" id="{E4BA8320-0772-4F08-B71E-8D53E2F7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825" y="2963545"/>
            <a:ext cx="4095750" cy="23323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5-axis-glow-wide">
            <a:extLst xmlns:a="http://schemas.openxmlformats.org/drawingml/2006/main">
              <a:ext uri="{FF2B5EF4-FFF2-40B4-BE49-F238E27FC236}">
                <a16:creationId xmlns:a16="http://schemas.microsoft.com/office/drawing/2014/main" id="{2B9A1C7A-85E6-4E22-ADBC-1E224252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4180"/>
            <a:ext cx="4095750" cy="23323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AB82EC19-20B4-4EF3-8E88-60A36A33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C2A4B56-0F8A-4C0B-BCF3-E1C47DC6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02 · 核心理念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314C097-804F-42DB-A169-A41E7FA0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Prompt 即模板：用结构化描述替代代码实现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41DD8716-B8BE-4C3B-A6BD-784ACC86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982C9A6-001C-43FB-96C6-A1B81D6E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 · 内部分享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D9FB503-A2BF-4C85-890C-03B72A2B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04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s5-intro">
            <a:extLst xmlns:a="http://schemas.openxmlformats.org/drawingml/2006/main">
              <a:ext uri="{FF2B5EF4-FFF2-40B4-BE49-F238E27FC236}">
                <a16:creationId xmlns:a16="http://schemas.microsoft.com/office/drawing/2014/main" id="{4C2C2594-89CE-4514-BC45-CA8C69AE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模板不再是一段前后端代码</a:t>
            </a:r>
            <a:endParaRPr sz="24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s5-main">
            <a:extLst xmlns:a="http://schemas.openxmlformats.org/drawingml/2006/main">
              <a:ext uri="{FF2B5EF4-FFF2-40B4-BE49-F238E27FC236}">
                <a16:creationId xmlns:a16="http://schemas.microsoft.com/office/drawing/2014/main" id="{71D5DAC2-AE4C-4A78-BDF4-C5FFBB70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5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而是一份能够描述内容结构、数据语义和视觉规则的结构化 Prompt。</a:t>
            </a:r>
            <a:endParaRPr sz="2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s5-left-label">
            <a:extLst xmlns:a="http://schemas.openxmlformats.org/drawingml/2006/main">
              <a:ext uri="{FF2B5EF4-FFF2-40B4-BE49-F238E27FC236}">
                <a16:creationId xmlns:a16="http://schemas.microsoft.com/office/drawing/2014/main" id="{E5329291-238C-4375-B1B3-AB2FE5B1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425" y="36385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传统模板</a:t>
            </a:r>
            <a:endParaRPr sz="180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s5-left-value">
            <a:extLst xmlns:a="http://schemas.openxmlformats.org/drawingml/2006/main">
              <a:ext uri="{FF2B5EF4-FFF2-40B4-BE49-F238E27FC236}">
                <a16:creationId xmlns:a16="http://schemas.microsoft.com/office/drawing/2014/main" id="{18957912-B726-41E6-9425-B68D6D92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425" y="41148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前端组件 + 后端逻辑 + 发布流程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s5-axis">
            <a:extLst xmlns:a="http://schemas.openxmlformats.org/drawingml/2006/main">
              <a:ext uri="{FF2B5EF4-FFF2-40B4-BE49-F238E27FC236}">
                <a16:creationId xmlns:a16="http://schemas.microsoft.com/office/drawing/2014/main" id="{36C0D197-9BF9-48A2-83AC-BB341432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4205605"/>
            <a:ext cx="1571625" cy="6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57C8"/>
            </a:solidFill>
            <a:prstDash val="solid"/>
          </a:ln>
        </p:spPr>
      </p:sp>
      <p:sp>
        <p:nvSpPr>
          <p:cNvPr id="26" name="s5-right-label">
            <a:extLst xmlns:a="http://schemas.openxmlformats.org/drawingml/2006/main">
              <a:ext uri="{FF2B5EF4-FFF2-40B4-BE49-F238E27FC236}">
                <a16:creationId xmlns:a16="http://schemas.microsoft.com/office/drawing/2014/main" id="{C77F1E0E-1EFD-4952-B183-34BD1B62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3638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Prompt 模板</a:t>
            </a:r>
            <a:endParaRPr sz="18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s5-right-value">
            <a:extLst xmlns:a="http://schemas.openxmlformats.org/drawingml/2006/main">
              <a:ext uri="{FF2B5EF4-FFF2-40B4-BE49-F238E27FC236}">
                <a16:creationId xmlns:a16="http://schemas.microsoft.com/office/drawing/2014/main" id="{D34BB456-7EE3-4868-A35F-0F1C80D4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41148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内容结构 + 规则约束 + 视觉规则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s5-conclusion">
            <a:extLst xmlns:a="http://schemas.openxmlformats.org/drawingml/2006/main">
              <a:ext uri="{FF2B5EF4-FFF2-40B4-BE49-F238E27FC236}">
                <a16:creationId xmlns:a16="http://schemas.microsoft.com/office/drawing/2014/main" id="{79C44D95-A452-419B-B5A1-9FF99244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模板从“代码资产”转变为“内容资产”。</a:t>
            </a:r>
            <a:endParaRPr sz="20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25357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1449D37F-9F79-4C51-8691-5D880B32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3DD7C93-66C3-46D9-9A66-C3667DDC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02 · 核心理念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480F913-6B8D-400E-9BE9-E4E060B7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一个模板，拆成内容与视觉两条可独立演进的轨道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C15D63B-4BD7-4A29-9963-3DD15788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C890129-8F11-4C4F-9B82-9BE7ADB4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 · 内部分享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94E2EB8-0993-470A-8FA7-293FBF15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05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s6-left-track-a">
            <a:extLst xmlns:a="http://schemas.openxmlformats.org/drawingml/2006/main">
              <a:ext uri="{FF2B5EF4-FFF2-40B4-BE49-F238E27FC236}">
                <a16:creationId xmlns:a16="http://schemas.microsoft.com/office/drawing/2014/main" id="{AF4E73A6-767F-47A0-AE1B-3BF42FD4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1555115" y="3089275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FA5"/>
            </a:solidFill>
            <a:prstDash val="solid"/>
          </a:ln>
        </p:spPr>
      </p:sp>
      <p:sp>
        <p:nvSpPr>
          <p:cNvPr id="21" name="s6-left-track-b">
            <a:extLst xmlns:a="http://schemas.openxmlformats.org/drawingml/2006/main">
              <a:ext uri="{FF2B5EF4-FFF2-40B4-BE49-F238E27FC236}">
                <a16:creationId xmlns:a16="http://schemas.microsoft.com/office/drawing/2014/main" id="{21C721A0-CCDE-47AC-AB95-CB1F162A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1555115" y="3213100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C9EE"/>
            </a:solidFill>
            <a:prstDash val="solid"/>
          </a:ln>
        </p:spPr>
      </p:sp>
      <p:sp>
        <p:nvSpPr>
          <p:cNvPr id="22" name="s6-right-track-a">
            <a:extLst xmlns:a="http://schemas.openxmlformats.org/drawingml/2006/main">
              <a:ext uri="{FF2B5EF4-FFF2-40B4-BE49-F238E27FC236}">
                <a16:creationId xmlns:a16="http://schemas.microsoft.com/office/drawing/2014/main" id="{2D757BB9-6B74-4A60-BCCC-C1F46CCE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6970395" y="3085465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D9187"/>
            </a:solidFill>
            <a:prstDash val="solid"/>
          </a:ln>
        </p:spPr>
      </p:sp>
      <p:sp>
        <p:nvSpPr>
          <p:cNvPr id="23" name="s6-right-track-b">
            <a:extLst xmlns:a="http://schemas.openxmlformats.org/drawingml/2006/main">
              <a:ext uri="{FF2B5EF4-FFF2-40B4-BE49-F238E27FC236}">
                <a16:creationId xmlns:a16="http://schemas.microsoft.com/office/drawing/2014/main" id="{5DB1B122-CF34-4F99-B9B5-1CDC6FA9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6970395" y="3209290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8DDA8"/>
            </a:solidFill>
            <a:prstDash val="solid"/>
          </a:ln>
        </p:spPr>
      </p:sp>
      <p:sp>
        <p:nvSpPr>
          <p:cNvPr id="24" name="s6-left-kicker">
            <a:extLst xmlns:a="http://schemas.openxmlformats.org/drawingml/2006/main">
              <a:ext uri="{FF2B5EF4-FFF2-40B4-BE49-F238E27FC236}">
                <a16:creationId xmlns:a16="http://schemas.microsoft.com/office/drawing/2014/main" id="{6A9C4055-9944-4B4F-A6B2-FD9DA3AD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790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内容结构维度</a:t>
            </a:r>
            <a:endParaRPr sz="13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s6-left-title">
            <a:extLst xmlns:a="http://schemas.openxmlformats.org/drawingml/2006/main">
              <a:ext uri="{FF2B5EF4-FFF2-40B4-BE49-F238E27FC236}">
                <a16:creationId xmlns:a16="http://schemas.microsoft.com/office/drawing/2014/main" id="{2D5296B0-0BF3-47B6-9C13-B221DA7A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9270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Report-skill</a:t>
            </a:r>
            <a:endParaRPr sz="2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s6-left-body">
            <a:extLst xmlns:a="http://schemas.openxmlformats.org/drawingml/2006/main">
              <a:ext uri="{FF2B5EF4-FFF2-40B4-BE49-F238E27FC236}">
                <a16:creationId xmlns:a16="http://schemas.microsoft.com/office/drawing/2014/main" id="{47E45995-987E-4B45-BDB8-DD27D773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4840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基本信息·变量定义·报告结构·四类规则</a:t>
            </a:r>
            <a:endParaRPr sz="16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s6-right-kicker">
            <a:extLst xmlns:a="http://schemas.openxmlformats.org/drawingml/2006/main">
              <a:ext uri="{FF2B5EF4-FFF2-40B4-BE49-F238E27FC236}">
                <a16:creationId xmlns:a16="http://schemas.microsoft.com/office/drawing/2014/main" id="{0658F7E9-88AE-4AB0-9EA1-5A26149D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165" y="221361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视觉规范维度</a:t>
            </a:r>
            <a:endParaRPr sz="13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s6-right-title">
            <a:extLst xmlns:a="http://schemas.openxmlformats.org/drawingml/2006/main">
              <a:ext uri="{FF2B5EF4-FFF2-40B4-BE49-F238E27FC236}">
                <a16:creationId xmlns:a16="http://schemas.microsoft.com/office/drawing/2014/main" id="{2ABE3C41-46DD-4A0C-8F64-83370CA0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165" y="251841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Design-skill</a:t>
            </a:r>
            <a:endParaRPr sz="2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s6-right-body">
            <a:extLst xmlns:a="http://schemas.openxmlformats.org/drawingml/2006/main">
              <a:ext uri="{FF2B5EF4-FFF2-40B4-BE49-F238E27FC236}">
                <a16:creationId xmlns:a16="http://schemas.microsoft.com/office/drawing/2014/main" id="{F86C4F11-3891-4E4E-8247-5585583A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165" y="3783330"/>
            <a:ext cx="3965575" cy="1026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  <a:def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>
                <a:latin typeface="Hiragino Sans GB"/>
                <a:ea typeface="Hiragino Sans GB"/>
                <a:cs typeface="Hiragino Sans GB"/>
              </a:rPr>
              <a:t>配色方案</a:t>
            </a:r>
            <a:r>
              <a:rPr sz="1600">
                <a:latin typeface="Hiragino Sans GB"/>
                <a:ea typeface="Hiragino Sans GB"/>
                <a:cs typeface="Hiragino Sans GB"/>
              </a:rPr>
              <a:t>·</a:t>
            </a:r>
            <a:r>
              <a:rPr sz="1600"/>
              <a:t>组件主题</a:t>
            </a:r>
            <a:r>
              <a:rPr sz="1600"/>
              <a:t>·</a:t>
            </a:r>
            <a:r>
              <a:rPr sz="1600">
                <a:latin typeface="Hiragino Sans GB"/>
                <a:ea typeface="Hiragino Sans GB"/>
                <a:cs typeface="Hiragino Sans GB"/>
              </a:rPr>
              <a:t>Design Tokens</a:t>
            </a:r>
            <a:endParaRPr sz="1600"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  <a:def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>
                <a:latin typeface="Hiragino Sans GB"/>
                <a:ea typeface="Hiragino Sans GB"/>
                <a:cs typeface="Hiragino Sans GB"/>
              </a:rPr>
              <a:t>字体规范</a:t>
            </a:r>
            <a:r>
              <a:rPr sz="1600">
                <a:latin typeface="Hiragino Sans GB"/>
                <a:ea typeface="Hiragino Sans GB"/>
                <a:cs typeface="Hiragino Sans GB"/>
              </a:rPr>
              <a:t>·</a:t>
            </a:r>
            <a:r>
              <a:rPr sz="1600">
                <a:latin typeface="Hiragino Sans GB"/>
                <a:ea typeface="Hiragino Sans GB"/>
                <a:cs typeface="Hiragino Sans GB"/>
              </a:rPr>
              <a:t>间距与布局规则</a:t>
            </a:r>
            <a:endParaRPr sz="1600"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50000"/>
              </a:lnSpc>
              <a:buClrTx/>
              <a:buSzTx/>
              <a:buFontTx/>
              <a:buNone/>
              <a:defRPr sz="15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endParaRPr sz="1600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6-common">
            <a:extLst xmlns:a="http://schemas.openxmlformats.org/drawingml/2006/main">
              <a:ext uri="{FF2B5EF4-FFF2-40B4-BE49-F238E27FC236}">
                <a16:creationId xmlns:a16="http://schemas.microsoft.com/office/drawing/2014/main" id="{7B9F936F-62EF-42C7-9DD4-11024118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6257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共同特征：可被 Agent 检索 · 可热拔插 · 可版本化 · 可审核 · 可发布与回滚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5167974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9697DF85-661E-4F90-BEFF-8D3C7997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9595C70-743C-4D57-A6F7-B483CB45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03 · 方案架构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06DC8F9-AAE6-4729-8E0C-F2367630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业务入口、模板资产、智能调度与数据能力形成闭环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E6EB14AA-51F3-4B24-B6B7-AC28B10D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60CA482-A2E5-4CF5-B669-A1882F6B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 · 内部分享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D5E484F-A1DF-4BB7-A277-F0A40B9D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06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7-user">
            <a:extLst xmlns:a="http://schemas.openxmlformats.org/drawingml/2006/main">
              <a:ext uri="{FF2B5EF4-FFF2-40B4-BE49-F238E27FC236}">
                <a16:creationId xmlns:a16="http://schemas.microsoft.com/office/drawing/2014/main" id="{8FCC0DEF-EABA-44CA-B54A-6863BE9B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314388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9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7-user-accent">
            <a:extLst xmlns:a="http://schemas.openxmlformats.org/drawingml/2006/main">
              <a:ext uri="{FF2B5EF4-FFF2-40B4-BE49-F238E27FC236}">
                <a16:creationId xmlns:a16="http://schemas.microsoft.com/office/drawing/2014/main" id="{94BA344A-3886-4A0D-9EB1-232A039A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7-user-title">
            <a:extLst xmlns:a="http://schemas.openxmlformats.org/drawingml/2006/main">
              <a:ext uri="{FF2B5EF4-FFF2-40B4-BE49-F238E27FC236}">
                <a16:creationId xmlns:a16="http://schemas.microsoft.com/office/drawing/2014/main" id="{BF6580FE-B8CE-4310-8317-46CE8895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695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用户（业务方 / 运营）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7-user-body">
            <a:extLst xmlns:a="http://schemas.openxmlformats.org/drawingml/2006/main">
              <a:ext uri="{FF2B5EF4-FFF2-40B4-BE49-F238E27FC236}">
                <a16:creationId xmlns:a16="http://schemas.microsoft.com/office/drawing/2014/main" id="{516D2CE7-CD66-42FF-B336-915F4DF2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38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提出需求 · 管理模板 · 审阅结果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7-customer">
            <a:extLst xmlns:a="http://schemas.openxmlformats.org/drawingml/2006/main">
              <a:ext uri="{FF2B5EF4-FFF2-40B4-BE49-F238E27FC236}">
                <a16:creationId xmlns:a16="http://schemas.microsoft.com/office/drawing/2014/main" id="{FE056C6D-8754-4368-91C3-14672AE6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71625"/>
            <a:ext cx="3143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D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7-customer-accent">
            <a:extLst xmlns:a="http://schemas.openxmlformats.org/drawingml/2006/main">
              <a:ext uri="{FF2B5EF4-FFF2-40B4-BE49-F238E27FC236}">
                <a16:creationId xmlns:a16="http://schemas.microsoft.com/office/drawing/2014/main" id="{7342306E-1176-45B8-AA2C-A4DFD9C4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716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7-customer-title">
            <a:extLst xmlns:a="http://schemas.openxmlformats.org/drawingml/2006/main">
              <a:ext uri="{FF2B5EF4-FFF2-40B4-BE49-F238E27FC236}">
                <a16:creationId xmlns:a16="http://schemas.microsoft.com/office/drawing/2014/main" id="{924F2336-DD33-40E9-91B4-6BB2BBC4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695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客户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7-customer-body">
            <a:extLst xmlns:a="http://schemas.openxmlformats.org/drawingml/2006/main">
              <a:ext uri="{FF2B5EF4-FFF2-40B4-BE49-F238E27FC236}">
                <a16:creationId xmlns:a16="http://schemas.microsoft.com/office/drawing/2014/main" id="{830C85E3-ACFB-4AE4-8EFA-6B9F041F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38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提出需求·查看报告·下载导出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7-workbench">
            <a:extLst xmlns:a="http://schemas.openxmlformats.org/drawingml/2006/main">
              <a:ext uri="{FF2B5EF4-FFF2-40B4-BE49-F238E27FC236}">
                <a16:creationId xmlns:a16="http://schemas.microsoft.com/office/drawing/2014/main" id="{7F7B23A6-45FE-499E-9B37-A2AE4F13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3143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E9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7-workbench-accent">
            <a:extLst xmlns:a="http://schemas.openxmlformats.org/drawingml/2006/main">
              <a:ext uri="{FF2B5EF4-FFF2-40B4-BE49-F238E27FC236}">
                <a16:creationId xmlns:a16="http://schemas.microsoft.com/office/drawing/2014/main" id="{33BC50F7-12E9-4EBE-A6BB-E9B858D4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7-workbench-title">
            <a:extLst xmlns:a="http://schemas.openxmlformats.org/drawingml/2006/main">
              <a:ext uri="{FF2B5EF4-FFF2-40B4-BE49-F238E27FC236}">
                <a16:creationId xmlns:a16="http://schemas.microsoft.com/office/drawing/2014/main" id="{2C7B5023-F182-4F16-A71F-34E1BECB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24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Prompt模板工作台</a:t>
            </a:r>
            <a:endParaRPr sz="18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7-workbench-body">
            <a:extLst xmlns:a="http://schemas.openxmlformats.org/drawingml/2006/main">
              <a:ext uri="{FF2B5EF4-FFF2-40B4-BE49-F238E27FC236}">
                <a16:creationId xmlns:a16="http://schemas.microsoft.com/office/drawing/2014/main" id="{98508169-4B70-48A4-A808-2269E91E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67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AI 辅助生成/调整·模板全生命周期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7-agent">
            <a:extLst xmlns:a="http://schemas.openxmlformats.org/drawingml/2006/main">
              <a:ext uri="{FF2B5EF4-FFF2-40B4-BE49-F238E27FC236}">
                <a16:creationId xmlns:a16="http://schemas.microsoft.com/office/drawing/2014/main" id="{B6355B26-2917-43A6-8E9D-CEC4D0E1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47900"/>
            <a:ext cx="2381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7-agent-title">
            <a:extLst xmlns:a="http://schemas.openxmlformats.org/drawingml/2006/main">
              <a:ext uri="{FF2B5EF4-FFF2-40B4-BE49-F238E27FC236}">
                <a16:creationId xmlns:a16="http://schemas.microsoft.com/office/drawing/2014/main" id="{B68E5A84-2A43-4A97-8DB2-6A655143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38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Agent</a:t>
            </a:r>
            <a:endParaRPr sz="2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8" name="s7-agent-body">
            <a:extLst xmlns:a="http://schemas.openxmlformats.org/drawingml/2006/main">
              <a:ext uri="{FF2B5EF4-FFF2-40B4-BE49-F238E27FC236}">
                <a16:creationId xmlns:a16="http://schemas.microsoft.com/office/drawing/2014/main" id="{764E276F-09FD-4A4E-876E-607CF993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67025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lnSpcReduction="2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意图理解 · 模板匹配</a:t>
            </a:r>
            <a:endParaRPr sz="1200" b="0">
              <a:solidFill>
                <a:srgbClr val="DDEAF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  <a:def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资料研究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 · 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报告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生成</a:t>
            </a:r>
            <a:endParaRPr sz="1200" b="0">
              <a:solidFill>
                <a:srgbClr val="DDEAF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  <a:def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结果验证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·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200" b="0">
                <a:solidFill>
                  <a:srgbClr val="DDEAF5"/>
                </a:solidFill>
                <a:latin typeface="Hiragino Sans GB"/>
                <a:ea typeface="Hiragino Sans GB"/>
                <a:cs typeface="Hiragino Sans GB"/>
              </a:rPr>
              <a:t>多轮修改</a:t>
            </a:r>
            <a:endParaRPr sz="1200" b="0">
              <a:solidFill>
                <a:srgbClr val="DDEAF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s7-frontend">
            <a:extLst xmlns:a="http://schemas.openxmlformats.org/drawingml/2006/main">
              <a:ext uri="{FF2B5EF4-FFF2-40B4-BE49-F238E27FC236}">
                <a16:creationId xmlns:a16="http://schemas.microsoft.com/office/drawing/2014/main" id="{460EBCE0-4919-4830-B1BE-71FB95EE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00375"/>
            <a:ext cx="3143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ED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7-frontend-accent">
            <a:extLst xmlns:a="http://schemas.openxmlformats.org/drawingml/2006/main">
              <a:ext uri="{FF2B5EF4-FFF2-40B4-BE49-F238E27FC236}">
                <a16:creationId xmlns:a16="http://schemas.microsoft.com/office/drawing/2014/main" id="{BA2CFA9F-0DEA-4E9B-A353-A9FD165B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00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7-frontend-title">
            <a:extLst xmlns:a="http://schemas.openxmlformats.org/drawingml/2006/main">
              <a:ext uri="{FF2B5EF4-FFF2-40B4-BE49-F238E27FC236}">
                <a16:creationId xmlns:a16="http://schemas.microsoft.com/office/drawing/2014/main" id="{1A20FB3C-1092-4A49-972F-337151F7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24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前端交互层</a:t>
            </a:r>
            <a:endParaRPr sz="18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s7-frontend-body">
            <a:extLst xmlns:a="http://schemas.openxmlformats.org/drawingml/2006/main">
              <a:ext uri="{FF2B5EF4-FFF2-40B4-BE49-F238E27FC236}">
                <a16:creationId xmlns:a16="http://schemas.microsoft.com/office/drawing/2014/main" id="{17F3D46C-2594-4FC5-A79F-A5174405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467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Agent 对话·HTML 报告安全渲染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7-design">
            <a:extLst xmlns:a="http://schemas.openxmlformats.org/drawingml/2006/main">
              <a:ext uri="{FF2B5EF4-FFF2-40B4-BE49-F238E27FC236}">
                <a16:creationId xmlns:a16="http://schemas.microsoft.com/office/drawing/2014/main" id="{9D2B7610-C82A-4E9B-B094-30BF0C8F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9675"/>
            <a:ext cx="3143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B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7-design-accent">
            <a:extLst xmlns:a="http://schemas.openxmlformats.org/drawingml/2006/main">
              <a:ext uri="{FF2B5EF4-FFF2-40B4-BE49-F238E27FC236}">
                <a16:creationId xmlns:a16="http://schemas.microsoft.com/office/drawing/2014/main" id="{B8FB9A4C-F11D-47EC-91BC-B0C56DA1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9675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7-design-title">
            <a:extLst xmlns:a="http://schemas.openxmlformats.org/drawingml/2006/main">
              <a:ext uri="{FF2B5EF4-FFF2-40B4-BE49-F238E27FC236}">
                <a16:creationId xmlns:a16="http://schemas.microsoft.com/office/drawing/2014/main" id="{73355414-E1DB-4FE4-BCD4-2F3A518D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143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设计平台（可选）：MCP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7-library">
            <a:extLst xmlns:a="http://schemas.openxmlformats.org/drawingml/2006/main">
              <a:ext uri="{FF2B5EF4-FFF2-40B4-BE49-F238E27FC236}">
                <a16:creationId xmlns:a16="http://schemas.microsoft.com/office/drawing/2014/main" id="{AD3BB9A5-0DEE-401F-AF29-1FAD3F66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76800"/>
            <a:ext cx="31432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s7-library-accent">
            <a:extLst xmlns:a="http://schemas.openxmlformats.org/drawingml/2006/main">
              <a:ext uri="{FF2B5EF4-FFF2-40B4-BE49-F238E27FC236}">
                <a16:creationId xmlns:a16="http://schemas.microsoft.com/office/drawing/2014/main" id="{E82CB6BA-4B83-4060-AF54-081017D7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768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7-library-title">
            <a:extLst xmlns:a="http://schemas.openxmlformats.org/drawingml/2006/main">
              <a:ext uri="{FF2B5EF4-FFF2-40B4-BE49-F238E27FC236}">
                <a16:creationId xmlns:a16="http://schemas.microsoft.com/office/drawing/2014/main" id="{0BB5D3CE-B6F0-47D2-80C5-43823BC4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000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双轨模板库</a:t>
            </a:r>
            <a:endParaRPr sz="18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s7-library-body">
            <a:extLst xmlns:a="http://schemas.openxmlformats.org/drawingml/2006/main">
              <a:ext uri="{FF2B5EF4-FFF2-40B4-BE49-F238E27FC236}">
                <a16:creationId xmlns:a16="http://schemas.microsoft.com/office/drawing/2014/main" id="{E0817472-4E25-4340-8B00-37C3BC0C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3435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Report-skill · Design-skill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s7-data">
            <a:extLst xmlns:a="http://schemas.openxmlformats.org/drawingml/2006/main">
              <a:ext uri="{FF2B5EF4-FFF2-40B4-BE49-F238E27FC236}">
                <a16:creationId xmlns:a16="http://schemas.microsoft.com/office/drawing/2014/main" id="{E5CEAEB6-6A02-4B0F-8A64-1125138B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19675"/>
            <a:ext cx="3143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8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7-data-accent">
            <a:extLst xmlns:a="http://schemas.openxmlformats.org/drawingml/2006/main">
              <a:ext uri="{FF2B5EF4-FFF2-40B4-BE49-F238E27FC236}">
                <a16:creationId xmlns:a16="http://schemas.microsoft.com/office/drawing/2014/main" id="{F19538A2-1BB1-40E5-AABF-90F96706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19675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7-data-title">
            <a:extLst xmlns:a="http://schemas.openxmlformats.org/drawingml/2006/main">
              <a:ext uri="{FF2B5EF4-FFF2-40B4-BE49-F238E27FC236}">
                <a16:creationId xmlns:a16="http://schemas.microsoft.com/office/drawing/2014/main" id="{6F8271EB-FB81-4AD2-A2AA-6E0085FF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143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数据/后端：可靠数据源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147" name="肘形连接符 104"/>
          <p:cNvCxnSpPr>
            <a:stCxn xmlns:a="http://schemas.openxmlformats.org/drawingml/2006/main" id="34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 rot="5400000">
            <a:off x="2152968" y="2676208"/>
            <a:ext cx="647700" cy="635"/>
          </a:xfrm>
          <a:prstGeom xmlns:a="http://schemas.openxmlformats.org/drawingml/2006/main" prst="bentConnector3">
            <a:avLst>
              <a:gd name="adj1" fmla="val 49951"/>
            </a:avLst>
          </a:prstGeom>
          <a:ln xmlns:a="http://schemas.openxmlformats.org/drawingml/2006/main" w="14288">
            <a:solidFill>
              <a:srgbClr val="2F6FA5"/>
            </a:solidFill>
            <a:prstDash val="solid"/>
            <a:tailEnd type="triangle" w="sm" len="sm"/>
          </a:ln>
        </p:spPr>
      </p:cxnSp>
      <p:cxnSp>
        <p:nvCxnSpPr>
          <p:cNvPr id="148" name="肘形连接符 105"/>
          <p:cNvCxnSpPr>
            <a:stCxn xmlns:a="http://schemas.openxmlformats.org/drawingml/2006/main" id="38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 rot="5400000" flipV="1">
            <a:off x="9391650" y="2676525"/>
            <a:ext cx="647700" cy="3175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57BDE4"/>
            </a:solidFill>
            <a:prstDash val="solid"/>
            <a:tailEnd type="triangle" w="sm" len="sm"/>
          </a:ln>
        </p:spPr>
      </p:cxnSp>
      <p:cxnSp>
        <p:nvCxnSpPr>
          <p:cNvPr id="149" name="肘形连接符 106"/>
          <p:cNvCxnSpPr>
            <a:stCxn xmlns:a="http://schemas.openxmlformats.org/drawingml/2006/main" id="42" idx="2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2476500" y="4124325"/>
            <a:ext cx="2047875" cy="1266825"/>
          </a:xfrm>
          <a:prstGeom xmlns:a="http://schemas.openxmlformats.org/drawingml/2006/main" prst="bentConnector5">
            <a:avLst>
              <a:gd name="adj1" fmla="val 0"/>
              <a:gd name="adj2" fmla="val 18045"/>
              <a:gd name="adj3" fmla="val 88837"/>
            </a:avLst>
          </a:prstGeom>
          <a:ln xmlns:a="http://schemas.openxmlformats.org/drawingml/2006/main" w="14288">
            <a:solidFill>
              <a:srgbClr val="2F6FA5"/>
            </a:solidFill>
            <a:prstDash val="solid"/>
            <a:tailEnd type="triangle" w="sm" len="sm"/>
          </a:ln>
        </p:spPr>
      </p:cxnSp>
      <p:cxnSp>
        <p:nvCxnSpPr>
          <p:cNvPr id="150" name="直接箭头连接符 107"/>
          <p:cNvCxnSpPr>
            <a:stCxn xmlns:a="http://schemas.openxmlformats.org/drawingml/2006/main" id="56" idx="0"/>
            <a:endCxn xmlns:a="http://schemas.openxmlformats.org/drawingml/2006/main" id="46" idx="4"/>
          </p:cNvCxnSpPr>
          <p:nvPr/>
        </p:nvCxnSpPr>
        <p:spPr>
          <a:xfrm xmlns:a="http://schemas.openxmlformats.org/drawingml/2006/main" flipV="1">
            <a:off x="6096000" y="3867150"/>
            <a:ext cx="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D9187"/>
            </a:solidFill>
            <a:prstDash val="solid"/>
            <a:tailEnd type="triangle" w="sm" len="sm"/>
          </a:ln>
        </p:spPr>
      </p:cxnSp>
      <p:cxnSp>
        <p:nvCxnSpPr>
          <p:cNvPr id="151" name="肘形连接符 109"/>
          <p:cNvCxnSpPr>
            <a:stCxn xmlns:a="http://schemas.openxmlformats.org/drawingml/2006/main" id="60" idx="0"/>
            <a:endCxn xmlns:a="http://schemas.openxmlformats.org/drawingml/2006/main" id="46" idx="4"/>
          </p:cNvCxnSpPr>
          <p:nvPr/>
        </p:nvCxnSpPr>
        <p:spPr>
          <a:xfrm xmlns:a="http://schemas.openxmlformats.org/drawingml/2006/main" rot="16200000" flipV="1">
            <a:off x="7329488" y="2633663"/>
            <a:ext cx="1152525" cy="3619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4D9187"/>
            </a:solidFill>
            <a:prstDash val="solid"/>
            <a:tailEnd type="triangle" w="sm" len="sm"/>
          </a:ln>
        </p:spPr>
      </p:cxnSp>
      <p:cxnSp>
        <p:nvCxnSpPr>
          <p:cNvPr id="152" name="直接箭头连接符 110"/>
          <p:cNvCxnSpPr>
            <a:stCxn xmlns:a="http://schemas.openxmlformats.org/drawingml/2006/main" id="53" idx="0"/>
            <a:endCxn xmlns:a="http://schemas.openxmlformats.org/drawingml/2006/main" id="42" idx="2"/>
          </p:cNvCxnSpPr>
          <p:nvPr/>
        </p:nvCxnSpPr>
        <p:spPr>
          <a:xfrm xmlns:a="http://schemas.openxmlformats.org/drawingml/2006/main" flipV="1">
            <a:off x="2476500" y="4124325"/>
            <a:ext cx="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843D"/>
            </a:solidFill>
            <a:prstDash val="dash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8153263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7B23CC1B-5013-4318-BAC6-EF97DA19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507F716-D67A-4111-8F87-C228F2E0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03 · 方案架构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983E3AB-B9D8-400A-B032-89CEF1D6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工作台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- 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完整的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AI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辅助生成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流程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0FEEDE9E-DC33-470A-989B-9935B4EB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943FC-63E2-4528-9F42-E46C897B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EE7CB0C-E389-4517-BC7C-1A979BAD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07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8-track-top">
            <a:extLst xmlns:a="http://schemas.openxmlformats.org/drawingml/2006/main">
              <a:ext uri="{FF2B5EF4-FFF2-40B4-BE49-F238E27FC236}">
                <a16:creationId xmlns:a16="http://schemas.microsoft.com/office/drawing/2014/main" id="{3C73C411-552E-4B6B-BEF8-6C1CEA8B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1648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C9EE"/>
            </a:solidFill>
            <a:prstDash val="solid"/>
          </a:ln>
        </p:spPr>
      </p:sp>
      <p:sp>
        <p:nvSpPr>
          <p:cNvPr id="51" name="s8-track-turn">
            <a:extLst xmlns:a="http://schemas.openxmlformats.org/drawingml/2006/main">
              <a:ext uri="{FF2B5EF4-FFF2-40B4-BE49-F238E27FC236}">
                <a16:creationId xmlns:a16="http://schemas.microsoft.com/office/drawing/2014/main" id="{06664C65-4737-4DFD-ADCC-F9A6849F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16480"/>
            <a:ext cx="2000250" cy="6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C9EE"/>
            </a:solidFill>
            <a:prstDash val="solid"/>
          </a:ln>
        </p:spPr>
      </p:sp>
      <p:sp>
        <p:nvSpPr>
          <p:cNvPr id="52" name="s8-track-bottom">
            <a:extLst xmlns:a="http://schemas.openxmlformats.org/drawingml/2006/main">
              <a:ext uri="{FF2B5EF4-FFF2-40B4-BE49-F238E27FC236}">
                <a16:creationId xmlns:a16="http://schemas.microsoft.com/office/drawing/2014/main" id="{37A22277-296D-4CEA-9EC5-B61E1CDA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198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D9187"/>
            </a:solidFill>
            <a:prstDash val="solid"/>
          </a:ln>
        </p:spPr>
      </p:sp>
      <p:sp>
        <p:nvSpPr>
          <p:cNvPr id="53" name="s8-1-circle">
            <a:extLst xmlns:a="http://schemas.openxmlformats.org/drawingml/2006/main">
              <a:ext uri="{FF2B5EF4-FFF2-40B4-BE49-F238E27FC236}">
                <a16:creationId xmlns:a16="http://schemas.microsoft.com/office/drawing/2014/main" id="{711B0F29-7E5C-4A47-93BF-581758FD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8-1-text">
            <a:extLst xmlns:a="http://schemas.openxmlformats.org/drawingml/2006/main">
              <a:ext uri="{FF2B5EF4-FFF2-40B4-BE49-F238E27FC236}">
                <a16:creationId xmlns:a16="http://schemas.microsoft.com/office/drawing/2014/main" id="{F5E9D28E-46A5-489E-8CAF-A2BC21B7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6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s8-1-title">
            <a:extLst xmlns:a="http://schemas.openxmlformats.org/drawingml/2006/main">
              <a:ext uri="{FF2B5EF4-FFF2-40B4-BE49-F238E27FC236}">
                <a16:creationId xmlns:a16="http://schemas.microsoft.com/office/drawing/2014/main" id="{4EBDC23A-AB13-4DB6-8B58-630E3CAC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574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新建草稿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8-1-body">
            <a:extLst xmlns:a="http://schemas.openxmlformats.org/drawingml/2006/main">
              <a:ext uri="{FF2B5EF4-FFF2-40B4-BE49-F238E27FC236}">
                <a16:creationId xmlns:a16="http://schemas.microsoft.com/office/drawing/2014/main" id="{7C9BBF7A-51A5-409B-8F47-BF9FE519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03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输入模板名称，进入模板工作台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s8-2-circle">
            <a:extLst xmlns:a="http://schemas.openxmlformats.org/drawingml/2006/main">
              <a:ext uri="{FF2B5EF4-FFF2-40B4-BE49-F238E27FC236}">
                <a16:creationId xmlns:a16="http://schemas.microsoft.com/office/drawing/2014/main" id="{B20541A0-2942-412A-B940-C661C9A6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8-2-text">
            <a:extLst xmlns:a="http://schemas.openxmlformats.org/drawingml/2006/main">
              <a:ext uri="{FF2B5EF4-FFF2-40B4-BE49-F238E27FC236}">
                <a16:creationId xmlns:a16="http://schemas.microsoft.com/office/drawing/2014/main" id="{EF7EF81C-C607-42C1-9B0C-A0C5D4A4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6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s8-2-title">
            <a:extLst xmlns:a="http://schemas.openxmlformats.org/drawingml/2006/main">
              <a:ext uri="{FF2B5EF4-FFF2-40B4-BE49-F238E27FC236}">
                <a16:creationId xmlns:a16="http://schemas.microsoft.com/office/drawing/2014/main" id="{403E679D-C43C-47E7-8D47-BE9E7524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7271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描述需求或上传资料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s8-2-body">
            <a:extLst xmlns:a="http://schemas.openxmlformats.org/drawingml/2006/main">
              <a:ext uri="{FF2B5EF4-FFF2-40B4-BE49-F238E27FC236}">
                <a16:creationId xmlns:a16="http://schemas.microsoft.com/office/drawing/2014/main" id="{870B065C-1044-43B0-91B0-225B092C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1561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说明业务目标，或上传参考</a:t>
            </a: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附件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s8-3-circle">
            <a:extLst xmlns:a="http://schemas.openxmlformats.org/drawingml/2006/main">
              <a:ext uri="{FF2B5EF4-FFF2-40B4-BE49-F238E27FC236}">
                <a16:creationId xmlns:a16="http://schemas.microsoft.com/office/drawing/2014/main" id="{319C0889-4893-4FD2-942D-23BB4394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047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8-3-text">
            <a:extLst xmlns:a="http://schemas.openxmlformats.org/drawingml/2006/main">
              <a:ext uri="{FF2B5EF4-FFF2-40B4-BE49-F238E27FC236}">
                <a16:creationId xmlns:a16="http://schemas.microsoft.com/office/drawing/2014/main" id="{50134A58-1916-4323-8CB5-A622DDC3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0478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6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s8-3-title">
            <a:extLst xmlns:a="http://schemas.openxmlformats.org/drawingml/2006/main">
              <a:ext uri="{FF2B5EF4-FFF2-40B4-BE49-F238E27FC236}">
                <a16:creationId xmlns:a16="http://schemas.microsoft.com/office/drawing/2014/main" id="{30E61918-C582-49AD-B6E2-5D3F0E76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7271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Agent 判断操作路径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4" name="s8-3-body">
            <a:extLst xmlns:a="http://schemas.openxmlformats.org/drawingml/2006/main">
              <a:ext uri="{FF2B5EF4-FFF2-40B4-BE49-F238E27FC236}">
                <a16:creationId xmlns:a16="http://schemas.microsoft.com/office/drawing/2014/main" id="{CDB74905-B304-4C2E-B720-276FCDAD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15615"/>
            <a:ext cx="251523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自动判断完整生成</a:t>
            </a: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、</a:t>
            </a: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局部调整或追问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5" name="s8-4-circle">
            <a:extLst xmlns:a="http://schemas.openxmlformats.org/drawingml/2006/main">
              <a:ext uri="{FF2B5EF4-FFF2-40B4-BE49-F238E27FC236}">
                <a16:creationId xmlns:a16="http://schemas.microsoft.com/office/drawing/2014/main" id="{AA132B64-2BB3-49FF-94C4-306C936B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315" y="4143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s8-4-text">
            <a:extLst xmlns:a="http://schemas.openxmlformats.org/drawingml/2006/main">
              <a:ext uri="{FF2B5EF4-FFF2-40B4-BE49-F238E27FC236}">
                <a16:creationId xmlns:a16="http://schemas.microsoft.com/office/drawing/2014/main" id="{75DE255D-22BA-4F70-97AE-36BB6077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315" y="41433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  <a:endParaRPr sz="16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7" name="s8-4-title">
            <a:extLst xmlns:a="http://schemas.openxmlformats.org/drawingml/2006/main">
              <a:ext uri="{FF2B5EF4-FFF2-40B4-BE49-F238E27FC236}">
                <a16:creationId xmlns:a16="http://schemas.microsoft.com/office/drawing/2014/main" id="{74692918-341D-4CC5-A239-348AB097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529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生成模板候选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s8-4-body">
            <a:extLst xmlns:a="http://schemas.openxmlformats.org/drawingml/2006/main">
              <a:ext uri="{FF2B5EF4-FFF2-40B4-BE49-F238E27FC236}">
                <a16:creationId xmlns:a16="http://schemas.microsoft.com/office/drawing/2014/main" id="{F02A2560-F5D8-4FA8-90CC-C76923D7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958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生成</a:t>
            </a: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结构化</a:t>
            </a: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模板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或输出最小修改补丁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9" name="s8-5-circle">
            <a:extLst xmlns:a="http://schemas.openxmlformats.org/drawingml/2006/main">
              <a:ext uri="{FF2B5EF4-FFF2-40B4-BE49-F238E27FC236}">
                <a16:creationId xmlns:a16="http://schemas.microsoft.com/office/drawing/2014/main" id="{2BF81425-793B-4710-A2C1-ED9E075C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s8-5-text">
            <a:extLst xmlns:a="http://schemas.openxmlformats.org/drawingml/2006/main">
              <a:ext uri="{FF2B5EF4-FFF2-40B4-BE49-F238E27FC236}">
                <a16:creationId xmlns:a16="http://schemas.microsoft.com/office/drawing/2014/main" id="{D447113B-D99F-453B-9F52-E84B4FE5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5</a:t>
            </a:r>
            <a:endParaRPr sz="16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1" name="s8-5-title">
            <a:extLst xmlns:a="http://schemas.openxmlformats.org/drawingml/2006/main">
              <a:ext uri="{FF2B5EF4-FFF2-40B4-BE49-F238E27FC236}">
                <a16:creationId xmlns:a16="http://schemas.microsoft.com/office/drawing/2014/main" id="{293C118E-D44F-41E4-A5BF-E825C367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529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人工编辑与自动保存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s8-5-body">
            <a:extLst xmlns:a="http://schemas.openxmlformats.org/drawingml/2006/main">
              <a:ext uri="{FF2B5EF4-FFF2-40B4-BE49-F238E27FC236}">
                <a16:creationId xmlns:a16="http://schemas.microsoft.com/office/drawing/2014/main" id="{227B6DC3-A828-494E-8A11-E8FD8323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958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在编辑区检查并修改字段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内容自动保存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3" name="s8-6-circle">
            <a:extLst xmlns:a="http://schemas.openxmlformats.org/drawingml/2006/main">
              <a:ext uri="{FF2B5EF4-FFF2-40B4-BE49-F238E27FC236}">
                <a16:creationId xmlns:a16="http://schemas.microsoft.com/office/drawing/2014/main" id="{2DAA5F79-A663-4D2E-BF7C-3AC7D598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43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s8-6-text">
            <a:extLst xmlns:a="http://schemas.openxmlformats.org/drawingml/2006/main">
              <a:ext uri="{FF2B5EF4-FFF2-40B4-BE49-F238E27FC236}">
                <a16:creationId xmlns:a16="http://schemas.microsoft.com/office/drawing/2014/main" id="{F0267612-1D28-48DF-B5C8-E970CE83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433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6</a:t>
            </a:r>
            <a:endParaRPr sz="16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5" name="s8-6-title">
            <a:extLst xmlns:a="http://schemas.openxmlformats.org/drawingml/2006/main">
              <a:ext uri="{FF2B5EF4-FFF2-40B4-BE49-F238E27FC236}">
                <a16:creationId xmlns:a16="http://schemas.microsoft.com/office/drawing/2014/main" id="{E3F48349-2D0C-4554-9B8F-7A16ED5D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529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验证、启用与复用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s8-6-body">
            <a:extLst xmlns:a="http://schemas.openxmlformats.org/drawingml/2006/main">
              <a:ext uri="{FF2B5EF4-FFF2-40B4-BE49-F238E27FC236}">
                <a16:creationId xmlns:a16="http://schemas.microsoft.com/office/drawing/2014/main" id="{C2AB0D22-6577-46F1-B253-1954BC72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958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验证通过后启用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也可 Fork 后继续迭代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9" name="s8-current">
            <a:extLst xmlns:a="http://schemas.openxmlformats.org/drawingml/2006/main">
              <a:ext uri="{FF2B5EF4-FFF2-40B4-BE49-F238E27FC236}">
                <a16:creationId xmlns:a16="http://schemas.microsoft.com/office/drawing/2014/main" id="{BE2BE74F-838B-4846-A31F-6F84CBB2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8645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Agent 对话、自动保存、模板验证、Fork 和启停，验证结果持续推动模板修正。</a:t>
            </a:r>
            <a:endParaRPr sz="12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s8-track-bottom">
            <a:extLst xmlns:a="http://schemas.openxmlformats.org/drawingml/2006/main">
              <a:ext uri="{FF2B5EF4-FFF2-40B4-BE49-F238E27FC236}">
                <a16:creationId xmlns:a16="http://schemas.microsoft.com/office/drawing/2014/main" id="{8DB570D7-8957-4316-84B7-27C4734F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096250" y="4412615"/>
            <a:ext cx="2000885" cy="6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D9187"/>
            </a:solidFill>
            <a:prstDash val="solid"/>
          </a:ln>
        </p:spPr>
      </p:sp>
      <p:sp>
        <p:nvSpPr>
          <p:cNvPr id="9" name="s8-track-turn">
            <a:extLst xmlns:a="http://schemas.openxmlformats.org/drawingml/2006/main">
              <a:ext uri="{FF2B5EF4-FFF2-40B4-BE49-F238E27FC236}">
                <a16:creationId xmlns:a16="http://schemas.microsoft.com/office/drawing/2014/main" id="{4D6D8786-36DE-496E-A8F0-C6281E59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3325" y="2299970"/>
            <a:ext cx="1270" cy="11283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C9EE"/>
            </a:solidFill>
            <a:prstDash val="solid"/>
          </a:ln>
        </p:spPr>
      </p:sp>
      <p:sp>
        <p:nvSpPr>
          <p:cNvPr id="10" name="s8-track-bottom">
            <a:extLst xmlns:a="http://schemas.openxmlformats.org/drawingml/2006/main">
              <a:ext uri="{FF2B5EF4-FFF2-40B4-BE49-F238E27FC236}">
                <a16:creationId xmlns:a16="http://schemas.microsoft.com/office/drawing/2014/main" id="{3E4D7588-A2C7-4725-B6B3-AF072C64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095230" y="3338830"/>
            <a:ext cx="635" cy="1073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D918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80709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610DE3A2-6784-4A20-884D-2A0B7B7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1755BA8-A6B7-4175-BB26-A559F9D0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03 · 方案架构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D4696D0-7688-467A-9A5E-D9F6C36A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工作台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-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Agent 的受控工作流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542F0128-4F01-4026-8FC9-48B12E32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3E77008-4373-48AA-B6F0-68FC2C57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4808993-6986-4F67-A2FE-3A0D32B3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08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9-spine">
            <a:extLst xmlns:a="http://schemas.openxmlformats.org/drawingml/2006/main">
              <a:ext uri="{FF2B5EF4-FFF2-40B4-BE49-F238E27FC236}">
                <a16:creationId xmlns:a16="http://schemas.microsoft.com/office/drawing/2014/main" id="{B7A852AD-70B1-446B-86F6-E1A42B70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504440"/>
            <a:ext cx="9448800" cy="12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8C9EE"/>
            </a:solidFill>
            <a:prstDash val="solid"/>
          </a:ln>
        </p:spPr>
      </p:sp>
      <p:sp>
        <p:nvSpPr>
          <p:cNvPr id="46" name="s9-1-circle">
            <a:extLst xmlns:a="http://schemas.openxmlformats.org/drawingml/2006/main">
              <a:ext uri="{FF2B5EF4-FFF2-40B4-BE49-F238E27FC236}">
                <a16:creationId xmlns:a16="http://schemas.microsoft.com/office/drawing/2014/main" id="{6FD941AF-6E01-4A6A-8874-1A1041D1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9-1-text">
            <a:extLst xmlns:a="http://schemas.openxmlformats.org/drawingml/2006/main">
              <a:ext uri="{FF2B5EF4-FFF2-40B4-BE49-F238E27FC236}">
                <a16:creationId xmlns:a16="http://schemas.microsoft.com/office/drawing/2014/main" id="{5B35F683-2AF3-43CD-A22C-16231C78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8" name="s9-1-title">
            <a:extLst xmlns:a="http://schemas.openxmlformats.org/drawingml/2006/main">
              <a:ext uri="{FF2B5EF4-FFF2-40B4-BE49-F238E27FC236}">
                <a16:creationId xmlns:a16="http://schemas.microsoft.com/office/drawing/2014/main" id="{D97B7344-6FA5-4599-A7E5-40BB7326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读取最新快照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s9-1-body">
            <a:extLst xmlns:a="http://schemas.openxmlformats.org/drawingml/2006/main">
              <a:ext uri="{FF2B5EF4-FFF2-40B4-BE49-F238E27FC236}">
                <a16:creationId xmlns:a16="http://schemas.microsoft.com/office/drawing/2014/main" id="{D7BA12A0-4797-4FF2-B99B-62317924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19475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从数据库读取模板内容和 revision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9-2-circle">
            <a:extLst xmlns:a="http://schemas.openxmlformats.org/drawingml/2006/main">
              <a:ext uri="{FF2B5EF4-FFF2-40B4-BE49-F238E27FC236}">
                <a16:creationId xmlns:a16="http://schemas.microsoft.com/office/drawing/2014/main" id="{BE3D8A78-E0CE-406B-84C2-1725AC1E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9-2-text">
            <a:extLst xmlns:a="http://schemas.openxmlformats.org/drawingml/2006/main">
              <a:ext uri="{FF2B5EF4-FFF2-40B4-BE49-F238E27FC236}">
                <a16:creationId xmlns:a16="http://schemas.microsoft.com/office/drawing/2014/main" id="{69EF62BE-41FB-418F-B4A7-D11B2D0F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s9-2-title">
            <a:extLst xmlns:a="http://schemas.openxmlformats.org/drawingml/2006/main">
              <a:ext uri="{FF2B5EF4-FFF2-40B4-BE49-F238E27FC236}">
                <a16:creationId xmlns:a16="http://schemas.microsoft.com/office/drawing/2014/main" id="{4F0D7C14-6F6E-4A43-93DC-22DE5B8E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意图路由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9-2-body">
            <a:extLst xmlns:a="http://schemas.openxmlformats.org/drawingml/2006/main">
              <a:ext uri="{FF2B5EF4-FFF2-40B4-BE49-F238E27FC236}">
                <a16:creationId xmlns:a16="http://schemas.microsoft.com/office/drawing/2014/main" id="{823CB9AF-7316-4F56-A5F1-CB7DBC5F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19475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判断完整生成、局部调整或澄清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s9-3-circle">
            <a:extLst xmlns:a="http://schemas.openxmlformats.org/drawingml/2006/main">
              <a:ext uri="{FF2B5EF4-FFF2-40B4-BE49-F238E27FC236}">
                <a16:creationId xmlns:a16="http://schemas.microsoft.com/office/drawing/2014/main" id="{0BE85DF0-84C3-49E4-A0C4-48C8F602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9-3-text">
            <a:extLst xmlns:a="http://schemas.openxmlformats.org/drawingml/2006/main">
              <a:ext uri="{FF2B5EF4-FFF2-40B4-BE49-F238E27FC236}">
                <a16:creationId xmlns:a16="http://schemas.microsoft.com/office/drawing/2014/main" id="{A81AA7DB-5E68-4101-ABD5-D420F329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9-3-title">
            <a:extLst xmlns:a="http://schemas.openxmlformats.org/drawingml/2006/main">
              <a:ext uri="{FF2B5EF4-FFF2-40B4-BE49-F238E27FC236}">
                <a16:creationId xmlns:a16="http://schemas.microsoft.com/office/drawing/2014/main" id="{8B7EFE1C-E1BD-4EA1-97C6-E8CF36CA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风险门禁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s9-3-body">
            <a:extLst xmlns:a="http://schemas.openxmlformats.org/drawingml/2006/main">
              <a:ext uri="{FF2B5EF4-FFF2-40B4-BE49-F238E27FC236}">
                <a16:creationId xmlns:a16="http://schemas.microsoft.com/office/drawing/2014/main" id="{C9CAD07D-3C87-4720-8850-3E19F025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19475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检查资料完整性、附件边界与覆盖风险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8" name="s9-4-circle">
            <a:extLst xmlns:a="http://schemas.openxmlformats.org/drawingml/2006/main">
              <a:ext uri="{FF2B5EF4-FFF2-40B4-BE49-F238E27FC236}">
                <a16:creationId xmlns:a16="http://schemas.microsoft.com/office/drawing/2014/main" id="{65CC13A4-F815-4C48-A411-1D86C897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9-4-text">
            <a:extLst xmlns:a="http://schemas.openxmlformats.org/drawingml/2006/main">
              <a:ext uri="{FF2B5EF4-FFF2-40B4-BE49-F238E27FC236}">
                <a16:creationId xmlns:a16="http://schemas.microsoft.com/office/drawing/2014/main" id="{E8556064-63D3-454A-B491-ADCD8C4A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s9-4-title">
            <a:extLst xmlns:a="http://schemas.openxmlformats.org/drawingml/2006/main">
              <a:ext uri="{FF2B5EF4-FFF2-40B4-BE49-F238E27FC236}">
                <a16:creationId xmlns:a16="http://schemas.microsoft.com/office/drawing/2014/main" id="{E9DCECCA-A18E-4073-8F8A-29635F50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候选生成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s9-4-body-a">
            <a:extLst xmlns:a="http://schemas.openxmlformats.org/drawingml/2006/main">
              <a:ext uri="{FF2B5EF4-FFF2-40B4-BE49-F238E27FC236}">
                <a16:creationId xmlns:a16="http://schemas.microsoft.com/office/drawing/2014/main" id="{B5F2151B-202D-4113-91EC-4F2FE664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4671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完整生成八字段模板</a:t>
            </a:r>
            <a:endParaRPr sz="1050" b="0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t>或</a:t>
            </a:r>
            <a:r>
              <a:t>生成最小修改补丁</a:t>
            </a:r>
            <a:endParaRPr b="0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endParaRPr sz="1050" b="0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4" name="s9-5-circle">
            <a:extLst xmlns:a="http://schemas.openxmlformats.org/drawingml/2006/main">
              <a:ext uri="{FF2B5EF4-FFF2-40B4-BE49-F238E27FC236}">
                <a16:creationId xmlns:a16="http://schemas.microsoft.com/office/drawing/2014/main" id="{DEB2555D-3E53-4BAA-9B53-DCB0EB89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9-5-text">
            <a:extLst xmlns:a="http://schemas.openxmlformats.org/drawingml/2006/main">
              <a:ext uri="{FF2B5EF4-FFF2-40B4-BE49-F238E27FC236}">
                <a16:creationId xmlns:a16="http://schemas.microsoft.com/office/drawing/2014/main" id="{256126DC-76D1-41E4-8B7A-0AD767E6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5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6" name="s9-5-title">
            <a:extLst xmlns:a="http://schemas.openxmlformats.org/drawingml/2006/main">
              <a:ext uri="{FF2B5EF4-FFF2-40B4-BE49-F238E27FC236}">
                <a16:creationId xmlns:a16="http://schemas.microsoft.com/office/drawing/2014/main" id="{30ABCACF-DD0C-4BE1-91CF-D6AEC457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评价与修正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7" name="s9-5-body">
            <a:extLst xmlns:a="http://schemas.openxmlformats.org/drawingml/2006/main">
              <a:ext uri="{FF2B5EF4-FFF2-40B4-BE49-F238E27FC236}">
                <a16:creationId xmlns:a16="http://schemas.microsoft.com/office/drawing/2014/main" id="{BDCA46B4-024B-4CDC-A692-365BFBE3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19475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评价候选内容，失败后最多修正两轮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s9-6-circle">
            <a:extLst xmlns:a="http://schemas.openxmlformats.org/drawingml/2006/main">
              <a:ext uri="{FF2B5EF4-FFF2-40B4-BE49-F238E27FC236}">
                <a16:creationId xmlns:a16="http://schemas.microsoft.com/office/drawing/2014/main" id="{192842D5-B9B6-4203-B5D3-E1416403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s9-6-text">
            <a:extLst xmlns:a="http://schemas.openxmlformats.org/drawingml/2006/main">
              <a:ext uri="{FF2B5EF4-FFF2-40B4-BE49-F238E27FC236}">
                <a16:creationId xmlns:a16="http://schemas.microsoft.com/office/drawing/2014/main" id="{FC72C995-03F5-4BF0-B466-93367783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6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0" name="s9-6-title">
            <a:extLst xmlns:a="http://schemas.openxmlformats.org/drawingml/2006/main">
              <a:ext uri="{FF2B5EF4-FFF2-40B4-BE49-F238E27FC236}">
                <a16:creationId xmlns:a16="http://schemas.microsoft.com/office/drawing/2014/main" id="{15C5BE5D-BA59-4F09-B2D1-A4323FEF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双层校验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1" name="s9-6-body">
            <a:extLst xmlns:a="http://schemas.openxmlformats.org/drawingml/2006/main">
              <a:ext uri="{FF2B5EF4-FFF2-40B4-BE49-F238E27FC236}">
                <a16:creationId xmlns:a16="http://schemas.microsoft.com/office/drawing/2014/main" id="{C1EAC29D-CED8-44CD-952C-0B6970C2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19475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程序校验结构，模型校验语义与跨字段一致性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s9-7-circle">
            <a:extLst xmlns:a="http://schemas.openxmlformats.org/drawingml/2006/main">
              <a:ext uri="{FF2B5EF4-FFF2-40B4-BE49-F238E27FC236}">
                <a16:creationId xmlns:a16="http://schemas.microsoft.com/office/drawing/2014/main" id="{12E82296-91ED-4307-BEFC-E47A482D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276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s9-7-text">
            <a:extLst xmlns:a="http://schemas.openxmlformats.org/drawingml/2006/main">
              <a:ext uri="{FF2B5EF4-FFF2-40B4-BE49-F238E27FC236}">
                <a16:creationId xmlns:a16="http://schemas.microsoft.com/office/drawing/2014/main" id="{05F3DC03-9C91-4A0E-A2E4-DE7A3D30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2764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7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4" name="s9-7-title">
            <a:extLst xmlns:a="http://schemas.openxmlformats.org/drawingml/2006/main">
              <a:ext uri="{FF2B5EF4-FFF2-40B4-BE49-F238E27FC236}">
                <a16:creationId xmlns:a16="http://schemas.microsoft.com/office/drawing/2014/main" id="{9F7DE522-C4D6-45CF-8033-95C2A88B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8670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版本保护写入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5" name="s9-7-body">
            <a:extLst xmlns:a="http://schemas.openxmlformats.org/drawingml/2006/main">
              <a:ext uri="{FF2B5EF4-FFF2-40B4-BE49-F238E27FC236}">
                <a16:creationId xmlns:a16="http://schemas.microsoft.com/office/drawing/2014/main" id="{733197D5-62B4-4C5A-9A73-1D07C7E9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19475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按 revision 原子更新，并发变化时拒绝覆盖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s9-gate-line-1">
            <a:extLst xmlns:a="http://schemas.openxmlformats.org/drawingml/2006/main">
              <a:ext uri="{FF2B5EF4-FFF2-40B4-BE49-F238E27FC236}">
                <a16:creationId xmlns:a16="http://schemas.microsoft.com/office/drawing/2014/main" id="{053E8D5E-E8AD-4899-9A29-19FF169F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4386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A5"/>
            </a:solidFill>
            <a:prstDash val="solid"/>
          </a:ln>
        </p:spPr>
      </p:sp>
      <p:sp>
        <p:nvSpPr>
          <p:cNvPr id="77" name="s9-gate-accent-1">
            <a:extLst xmlns:a="http://schemas.openxmlformats.org/drawingml/2006/main">
              <a:ext uri="{FF2B5EF4-FFF2-40B4-BE49-F238E27FC236}">
                <a16:creationId xmlns:a16="http://schemas.microsoft.com/office/drawing/2014/main" id="{08671198-2A44-4AB1-B71C-5FBEBCB7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0060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s9-gate-title-1">
            <a:extLst xmlns:a="http://schemas.openxmlformats.org/drawingml/2006/main">
              <a:ext uri="{FF2B5EF4-FFF2-40B4-BE49-F238E27FC236}">
                <a16:creationId xmlns:a16="http://schemas.microsoft.com/office/drawing/2014/main" id="{E719B47D-7EE4-4B38-84AA-EE105E6D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768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资料不足</a:t>
            </a:r>
            <a:endParaRPr sz="12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9" name="s9-gate-body-1">
            <a:extLst xmlns:a="http://schemas.openxmlformats.org/drawingml/2006/main">
              <a:ext uri="{FF2B5EF4-FFF2-40B4-BE49-F238E27FC236}">
                <a16:creationId xmlns:a16="http://schemas.microsoft.com/office/drawing/2014/main" id="{93F1ABDA-A2D2-481D-B87D-CB8E38F1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143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继续追问，不生成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0" name="s9-gate-line-2">
            <a:extLst xmlns:a="http://schemas.openxmlformats.org/drawingml/2006/main">
              <a:ext uri="{FF2B5EF4-FFF2-40B4-BE49-F238E27FC236}">
                <a16:creationId xmlns:a16="http://schemas.microsoft.com/office/drawing/2014/main" id="{92A441DB-A45B-4AB4-B352-3FC75250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4386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57C8"/>
            </a:solidFill>
            <a:prstDash val="solid"/>
          </a:ln>
        </p:spPr>
      </p:sp>
      <p:sp>
        <p:nvSpPr>
          <p:cNvPr id="81" name="s9-gate-accent-2">
            <a:extLst xmlns:a="http://schemas.openxmlformats.org/drawingml/2006/main">
              <a:ext uri="{FF2B5EF4-FFF2-40B4-BE49-F238E27FC236}">
                <a16:creationId xmlns:a16="http://schemas.microsoft.com/office/drawing/2014/main" id="{B2D4B9AA-F6BC-474B-8A8C-6C1D11F4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80060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s9-gate-title-2">
            <a:extLst xmlns:a="http://schemas.openxmlformats.org/drawingml/2006/main">
              <a:ext uri="{FF2B5EF4-FFF2-40B4-BE49-F238E27FC236}">
                <a16:creationId xmlns:a16="http://schemas.microsoft.com/office/drawing/2014/main" id="{7B771068-25AB-4717-803C-9D5CDCF3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768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覆盖已有内容</a:t>
            </a:r>
            <a:endParaRPr sz="12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3" name="s9-gate-body-2">
            <a:extLst xmlns:a="http://schemas.openxmlformats.org/drawingml/2006/main">
              <a:ext uri="{FF2B5EF4-FFF2-40B4-BE49-F238E27FC236}">
                <a16:creationId xmlns:a16="http://schemas.microsoft.com/office/drawing/2014/main" id="{D76EE2EA-E64B-4AFD-B5C8-985FFA9E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43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要求用户二次确认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s9-gate-line-3">
            <a:extLst xmlns:a="http://schemas.openxmlformats.org/drawingml/2006/main">
              <a:ext uri="{FF2B5EF4-FFF2-40B4-BE49-F238E27FC236}">
                <a16:creationId xmlns:a16="http://schemas.microsoft.com/office/drawing/2014/main" id="{9F537302-8265-4266-82AD-525254EB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386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9187"/>
            </a:solidFill>
            <a:prstDash val="solid"/>
          </a:ln>
        </p:spPr>
      </p:sp>
      <p:sp>
        <p:nvSpPr>
          <p:cNvPr id="85" name="s9-gate-accent-3">
            <a:extLst xmlns:a="http://schemas.openxmlformats.org/drawingml/2006/main">
              <a:ext uri="{FF2B5EF4-FFF2-40B4-BE49-F238E27FC236}">
                <a16:creationId xmlns:a16="http://schemas.microsoft.com/office/drawing/2014/main" id="{1EF84137-938F-4921-891E-C57CB8E4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80060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s9-gate-title-3">
            <a:extLst xmlns:a="http://schemas.openxmlformats.org/drawingml/2006/main">
              <a:ext uri="{FF2B5EF4-FFF2-40B4-BE49-F238E27FC236}">
                <a16:creationId xmlns:a16="http://schemas.microsoft.com/office/drawing/2014/main" id="{2744E98E-90AE-4A59-85F9-E9FA4611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8768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评价仍未通过</a:t>
            </a:r>
            <a:endParaRPr sz="12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7" name="s9-gate-body-3">
            <a:extLst xmlns:a="http://schemas.openxmlformats.org/drawingml/2006/main">
              <a:ext uri="{FF2B5EF4-FFF2-40B4-BE49-F238E27FC236}">
                <a16:creationId xmlns:a16="http://schemas.microsoft.com/office/drawing/2014/main" id="{4F3B3D3E-F7E7-4B62-BC1F-8F7C0BFF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143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返回问题，不保存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8" name="s9-gate-line-4">
            <a:extLst xmlns:a="http://schemas.openxmlformats.org/drawingml/2006/main">
              <a:ext uri="{FF2B5EF4-FFF2-40B4-BE49-F238E27FC236}">
                <a16:creationId xmlns:a16="http://schemas.microsoft.com/office/drawing/2014/main" id="{BB54C486-B112-4C76-8049-B4E1E713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4386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843D"/>
            </a:solidFill>
            <a:prstDash val="solid"/>
          </a:ln>
        </p:spPr>
      </p:sp>
      <p:sp>
        <p:nvSpPr>
          <p:cNvPr id="89" name="s9-gate-accent-4">
            <a:extLst xmlns:a="http://schemas.openxmlformats.org/drawingml/2006/main">
              <a:ext uri="{FF2B5EF4-FFF2-40B4-BE49-F238E27FC236}">
                <a16:creationId xmlns:a16="http://schemas.microsoft.com/office/drawing/2014/main" id="{0CAAB2DA-9D08-40C0-85DB-587497A4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80060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s9-gate-title-4">
            <a:extLst xmlns:a="http://schemas.openxmlformats.org/drawingml/2006/main">
              <a:ext uri="{FF2B5EF4-FFF2-40B4-BE49-F238E27FC236}">
                <a16:creationId xmlns:a16="http://schemas.microsoft.com/office/drawing/2014/main" id="{3A252E52-85B3-4ED7-886F-16BD6852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8768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并发版本变化</a:t>
            </a:r>
            <a:endParaRPr sz="12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1" name="s9-gate-body-4">
            <a:extLst xmlns:a="http://schemas.openxmlformats.org/drawingml/2006/main">
              <a:ext uri="{FF2B5EF4-FFF2-40B4-BE49-F238E27FC236}">
                <a16:creationId xmlns:a16="http://schemas.microsoft.com/office/drawing/2014/main" id="{E1411051-53E5-4BC8-A7EC-3D46D532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143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拒绝覆盖新版本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2" name="s9-conclusion">
            <a:extLst xmlns:a="http://schemas.openxmlformats.org/drawingml/2006/main">
              <a:ext uri="{FF2B5EF4-FFF2-40B4-BE49-F238E27FC236}">
                <a16:creationId xmlns:a16="http://schemas.microsoft.com/office/drawing/2014/main" id="{A60907C7-81AF-4E6A-98CD-F09FE385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10250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最终校验通过后才写数据库；任一门禁失败，原模板保持不变。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6754683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07A9EFB9-EB6F-4D47-8FA4-7D43F944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43CEFA5-5A3D-42AE-BD5E-88A4B143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04 · Skill 结构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76E4854-F07E-4E6F-9A85-B405853B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Report-skill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- 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的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结构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模型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3A08D747-A782-4484-AD02-FCFB979C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75BF661-50C7-4125-AB60-0FFBAFCC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AB699ED-C8D2-400E-BEE2-46DC6B56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09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s10-spine">
            <a:extLst xmlns:a="http://schemas.openxmlformats.org/drawingml/2006/main">
              <a:ext uri="{FF2B5EF4-FFF2-40B4-BE49-F238E27FC236}">
                <a16:creationId xmlns:a16="http://schemas.microsoft.com/office/drawing/2014/main" id="{354D3E25-C673-4524-997B-F6989153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55" y="1666875"/>
            <a:ext cx="76200" cy="397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0-band-1">
            <a:extLst xmlns:a="http://schemas.openxmlformats.org/drawingml/2006/main">
              <a:ext uri="{FF2B5EF4-FFF2-40B4-BE49-F238E27FC236}">
                <a16:creationId xmlns:a16="http://schemas.microsoft.com/office/drawing/2014/main" id="{D2894B5D-9BC6-4597-8ECA-F3703553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66875"/>
            <a:ext cx="1019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10-num-1-circle">
            <a:extLst xmlns:a="http://schemas.openxmlformats.org/drawingml/2006/main">
              <a:ext uri="{FF2B5EF4-FFF2-40B4-BE49-F238E27FC236}">
                <a16:creationId xmlns:a16="http://schemas.microsoft.com/office/drawing/2014/main" id="{BA04E292-8196-4FA9-B0E2-3816A6EC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1847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10-num-1-text">
            <a:extLst xmlns:a="http://schemas.openxmlformats.org/drawingml/2006/main">
              <a:ext uri="{FF2B5EF4-FFF2-40B4-BE49-F238E27FC236}">
                <a16:creationId xmlns:a16="http://schemas.microsoft.com/office/drawing/2014/main" id="{B8F53D5B-A010-488C-9950-DD4BBDE6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1847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s10-title-1">
            <a:extLst xmlns:a="http://schemas.openxmlformats.org/drawingml/2006/main">
              <a:ext uri="{FF2B5EF4-FFF2-40B4-BE49-F238E27FC236}">
                <a16:creationId xmlns:a16="http://schemas.microsoft.com/office/drawing/2014/main" id="{7FB38B1B-1518-4B0D-81CB-D4BB7DE9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811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能力识别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s10-fields-1">
            <a:extLst xmlns:a="http://schemas.openxmlformats.org/drawingml/2006/main">
              <a:ext uri="{FF2B5EF4-FFF2-40B4-BE49-F238E27FC236}">
                <a16:creationId xmlns:a16="http://schemas.microsoft.com/office/drawing/2014/main" id="{E7B8D83A-B56E-4002-AB65-CAB5C102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811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名称、用途描述</a:t>
            </a:r>
            <a:endParaRPr sz="135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s10-body-1">
            <a:extLst xmlns:a="http://schemas.openxmlformats.org/drawingml/2006/main">
              <a:ext uri="{FF2B5EF4-FFF2-40B4-BE49-F238E27FC236}">
                <a16:creationId xmlns:a16="http://schemas.microsoft.com/office/drawing/2014/main" id="{FAB729A5-45EB-4B05-8F1D-E4A17212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8117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说明模板能力、适用场景与触发边界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s10-band-2">
            <a:extLst xmlns:a="http://schemas.openxmlformats.org/drawingml/2006/main">
              <a:ext uri="{FF2B5EF4-FFF2-40B4-BE49-F238E27FC236}">
                <a16:creationId xmlns:a16="http://schemas.microsoft.com/office/drawing/2014/main" id="{32FBB06B-57F8-453D-9209-795D77D2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1019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10-num-2-circle">
            <a:extLst xmlns:a="http://schemas.openxmlformats.org/drawingml/2006/main">
              <a:ext uri="{FF2B5EF4-FFF2-40B4-BE49-F238E27FC236}">
                <a16:creationId xmlns:a16="http://schemas.microsoft.com/office/drawing/2014/main" id="{3CBD0023-BC84-496C-AC68-64CE6E79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2733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10-num-2-text">
            <a:extLst xmlns:a="http://schemas.openxmlformats.org/drawingml/2006/main">
              <a:ext uri="{FF2B5EF4-FFF2-40B4-BE49-F238E27FC236}">
                <a16:creationId xmlns:a16="http://schemas.microsoft.com/office/drawing/2014/main" id="{4B6F2578-7BC9-43E2-BD29-EECE5B71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27336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s10-title-2">
            <a:extLst xmlns:a="http://schemas.openxmlformats.org/drawingml/2006/main">
              <a:ext uri="{FF2B5EF4-FFF2-40B4-BE49-F238E27FC236}">
                <a16:creationId xmlns:a16="http://schemas.microsoft.com/office/drawing/2014/main" id="{2D792231-28B0-489C-BBCA-379C3E2C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复用输入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10-fields-2">
            <a:extLst xmlns:a="http://schemas.openxmlformats.org/drawingml/2006/main">
              <a:ext uri="{FF2B5EF4-FFF2-40B4-BE49-F238E27FC236}">
                <a16:creationId xmlns:a16="http://schemas.microsoft.com/office/drawing/2014/main" id="{79E3BC3E-E9B7-4DF3-8C47-DB2F141C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rPr>
              <a:t>模板变量</a:t>
            </a:r>
            <a:endParaRPr sz="1350" b="1">
              <a:solidFill>
                <a:srgbClr val="57BDE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10-body-2">
            <a:extLst xmlns:a="http://schemas.openxmlformats.org/drawingml/2006/main">
              <a:ext uri="{FF2B5EF4-FFF2-40B4-BE49-F238E27FC236}">
                <a16:creationId xmlns:a16="http://schemas.microsoft.com/office/drawing/2014/main" id="{A205B6AF-9CCE-4BCA-8A7E-98464444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670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统一会在结构中多次引用的业务概念</a:t>
            </a: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或者动态</a:t>
            </a: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内容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10-band-3">
            <a:extLst xmlns:a="http://schemas.openxmlformats.org/drawingml/2006/main">
              <a:ext uri="{FF2B5EF4-FFF2-40B4-BE49-F238E27FC236}">
                <a16:creationId xmlns:a16="http://schemas.microsoft.com/office/drawing/2014/main" id="{BD60CB99-90FA-44E0-9C07-CF4F1B5D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10191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10-num-3-circle">
            <a:extLst xmlns:a="http://schemas.openxmlformats.org/drawingml/2006/main">
              <a:ext uri="{FF2B5EF4-FFF2-40B4-BE49-F238E27FC236}">
                <a16:creationId xmlns:a16="http://schemas.microsoft.com/office/drawing/2014/main" id="{FB0668E5-2DCC-49BF-B40C-698640AE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3676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10-num-3-text">
            <a:extLst xmlns:a="http://schemas.openxmlformats.org/drawingml/2006/main">
              <a:ext uri="{FF2B5EF4-FFF2-40B4-BE49-F238E27FC236}">
                <a16:creationId xmlns:a16="http://schemas.microsoft.com/office/drawing/2014/main" id="{41484C65-0B3C-486F-A923-B11037F0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36766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0-title-3">
            <a:extLst xmlns:a="http://schemas.openxmlformats.org/drawingml/2006/main">
              <a:ext uri="{FF2B5EF4-FFF2-40B4-BE49-F238E27FC236}">
                <a16:creationId xmlns:a16="http://schemas.microsoft.com/office/drawing/2014/main" id="{E4CCC49E-02C1-49EC-A0C1-BBF6A9B2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52825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结构契约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10-fields-3">
            <a:extLst xmlns:a="http://schemas.openxmlformats.org/drawingml/2006/main">
              <a:ext uri="{FF2B5EF4-FFF2-40B4-BE49-F238E27FC236}">
                <a16:creationId xmlns:a16="http://schemas.microsoft.com/office/drawing/2014/main" id="{D9AA4CEF-6A2C-4D7F-B754-988D7A83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528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报告结构</a:t>
            </a:r>
            <a:endParaRPr sz="135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s10-body-3">
            <a:extLst xmlns:a="http://schemas.openxmlformats.org/drawingml/2006/main">
              <a:ext uri="{FF2B5EF4-FFF2-40B4-BE49-F238E27FC236}">
                <a16:creationId xmlns:a16="http://schemas.microsoft.com/office/drawing/2014/main" id="{A989C855-D139-4141-A438-EEF58FD3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528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固定模块顺序、组件、字段、数量和数据关系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0-band-4">
            <a:extLst xmlns:a="http://schemas.openxmlformats.org/drawingml/2006/main">
              <a:ext uri="{FF2B5EF4-FFF2-40B4-BE49-F238E27FC236}">
                <a16:creationId xmlns:a16="http://schemas.microsoft.com/office/drawing/2014/main" id="{A8FDEFEF-7B81-42BD-BF42-DE12067C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10191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10-num-4-circle">
            <a:extLst xmlns:a="http://schemas.openxmlformats.org/drawingml/2006/main">
              <a:ext uri="{FF2B5EF4-FFF2-40B4-BE49-F238E27FC236}">
                <a16:creationId xmlns:a16="http://schemas.microsoft.com/office/drawing/2014/main" id="{D88754FF-AD91-46DD-A1A2-BF95DBAC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48291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10-num-4-text">
            <a:extLst xmlns:a="http://schemas.openxmlformats.org/drawingml/2006/main">
              <a:ext uri="{FF2B5EF4-FFF2-40B4-BE49-F238E27FC236}">
                <a16:creationId xmlns:a16="http://schemas.microsoft.com/office/drawing/2014/main" id="{F497BBEF-067A-45D6-BB89-C6C1472D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" y="48291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s10-title-4">
            <a:extLst xmlns:a="http://schemas.openxmlformats.org/drawingml/2006/main">
              <a:ext uri="{FF2B5EF4-FFF2-40B4-BE49-F238E27FC236}">
                <a16:creationId xmlns:a16="http://schemas.microsoft.com/office/drawing/2014/main" id="{FB86FA98-5DC0-4629-A9E7-8B6882C6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52950"/>
            <a:ext cx="2238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质量边界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10-fields-4">
            <a:extLst xmlns:a="http://schemas.openxmlformats.org/drawingml/2006/main">
              <a:ext uri="{FF2B5EF4-FFF2-40B4-BE49-F238E27FC236}">
                <a16:creationId xmlns:a16="http://schemas.microsoft.com/office/drawing/2014/main" id="{58B28C0C-8DE0-46CA-957E-91C7324C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52950"/>
            <a:ext cx="323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一致性规则    ·  核心约束规则</a:t>
            </a:r>
            <a:endParaRPr sz="135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endParaRPr sz="1350"/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异常边界规则 ·  交付验证规则</a:t>
            </a:r>
            <a:endParaRPr sz="135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10-body-4">
            <a:extLst xmlns:a="http://schemas.openxmlformats.org/drawingml/2006/main">
              <a:ext uri="{FF2B5EF4-FFF2-40B4-BE49-F238E27FC236}">
                <a16:creationId xmlns:a16="http://schemas.microsoft.com/office/drawing/2014/main" id="{C576C762-42B7-4DD0-9879-03DA0C30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52950"/>
            <a:ext cx="3524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分别约束跨模块一致性、正常生成要求、异常处理和交付验收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0-summary">
            <a:extLst xmlns:a="http://schemas.openxmlformats.org/drawingml/2006/main">
              <a:ext uri="{FF2B5EF4-FFF2-40B4-BE49-F238E27FC236}">
                <a16:creationId xmlns:a16="http://schemas.microsoft.com/office/drawing/2014/main" id="{D1A151FA-DD0F-4DA0-ACC0-1A13498D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1025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业务口径与数据需求写入变量、组件数据契约和规则，始终绑定最终报告结构。</a:t>
            </a:r>
            <a:endParaRPr sz="13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3749792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7F7108EA-61F0-4342-BF04-684483F4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C9D290A-6F47-42DA-A205-DD16768A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04 · Skill 结构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312CC1-F6B2-41E0-8E84-4504D9BD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Design-skill </a:t>
            </a: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- </a:t>
            </a: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报告呈现风格的</a:t>
            </a: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结构与</a:t>
            </a: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生成</a:t>
            </a:r>
            <a:endParaRPr sz="2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AACADA70-ED41-4081-B748-4072D8ED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0400E3E-832F-487C-A813-7B40EA12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2BCEDA1-417E-480A-8EEE-2ED21C22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10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s11-source-1">
            <a:extLst xmlns:a="http://schemas.openxmlformats.org/drawingml/2006/main">
              <a:ext uri="{FF2B5EF4-FFF2-40B4-BE49-F238E27FC236}">
                <a16:creationId xmlns:a16="http://schemas.microsoft.com/office/drawing/2014/main" id="{A179BAB5-E9BE-434F-B479-7BC56E0B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2000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11-source-1-accent">
            <a:extLst xmlns:a="http://schemas.openxmlformats.org/drawingml/2006/main">
              <a:ext uri="{FF2B5EF4-FFF2-40B4-BE49-F238E27FC236}">
                <a16:creationId xmlns:a16="http://schemas.microsoft.com/office/drawing/2014/main" id="{46BC0C52-11D6-4998-802E-36884A4B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11-source-1-title">
            <a:extLst xmlns:a="http://schemas.openxmlformats.org/drawingml/2006/main">
              <a:ext uri="{FF2B5EF4-FFF2-40B4-BE49-F238E27FC236}">
                <a16:creationId xmlns:a16="http://schemas.microsoft.com/office/drawing/2014/main" id="{2CBAF9C8-B5F5-454F-B2FF-CB718172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71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设计平台 MCP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11-source-1-body">
            <a:extLst xmlns:a="http://schemas.openxmlformats.org/drawingml/2006/main">
              <a:ext uri="{FF2B5EF4-FFF2-40B4-BE49-F238E27FC236}">
                <a16:creationId xmlns:a16="http://schemas.microsoft.com/office/drawing/2014/main" id="{50A7CF0A-36EC-42ED-9516-022C11BB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直接对接设计协作平台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endParaRPr sz="1050"/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非多模态模型也能理解设计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s11-source-2">
            <a:extLst xmlns:a="http://schemas.openxmlformats.org/drawingml/2006/main">
              <a:ext uri="{FF2B5EF4-FFF2-40B4-BE49-F238E27FC236}">
                <a16:creationId xmlns:a16="http://schemas.microsoft.com/office/drawing/2014/main" id="{C983E541-4AC5-4070-B5C3-C17339B3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47825"/>
            <a:ext cx="2000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11-source-2-accent">
            <a:extLst xmlns:a="http://schemas.openxmlformats.org/drawingml/2006/main">
              <a:ext uri="{FF2B5EF4-FFF2-40B4-BE49-F238E27FC236}">
                <a16:creationId xmlns:a16="http://schemas.microsoft.com/office/drawing/2014/main" id="{68B08939-C071-4B33-8DEB-37B0FC80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4782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11-source-2-title">
            <a:extLst xmlns:a="http://schemas.openxmlformats.org/drawingml/2006/main">
              <a:ext uri="{FF2B5EF4-FFF2-40B4-BE49-F238E27FC236}">
                <a16:creationId xmlns:a16="http://schemas.microsoft.com/office/drawing/2014/main" id="{A64F4DEB-C91E-4745-86A7-FE003917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71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报告文件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1-source-2-body">
            <a:extLst xmlns:a="http://schemas.openxmlformats.org/drawingml/2006/main">
              <a:ext uri="{FF2B5EF4-FFF2-40B4-BE49-F238E27FC236}">
                <a16:creationId xmlns:a16="http://schemas.microsoft.com/office/drawing/2014/main" id="{D3A06B4A-1B1E-4514-B346-D255DA81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145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提取既有报告的视觉语言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s11-source-3">
            <a:extLst xmlns:a="http://schemas.openxmlformats.org/drawingml/2006/main">
              <a:ext uri="{FF2B5EF4-FFF2-40B4-BE49-F238E27FC236}">
                <a16:creationId xmlns:a16="http://schemas.microsoft.com/office/drawing/2014/main" id="{2C36904F-DABD-4FEF-9AFC-D45757C4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47825"/>
            <a:ext cx="2000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11-source-3-accent">
            <a:extLst xmlns:a="http://schemas.openxmlformats.org/drawingml/2006/main">
              <a:ext uri="{FF2B5EF4-FFF2-40B4-BE49-F238E27FC236}">
                <a16:creationId xmlns:a16="http://schemas.microsoft.com/office/drawing/2014/main" id="{0AB7F3CF-3D3D-492F-B635-C6F0E7E8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4782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11-source-3-title">
            <a:extLst xmlns:a="http://schemas.openxmlformats.org/drawingml/2006/main">
              <a:ext uri="{FF2B5EF4-FFF2-40B4-BE49-F238E27FC236}">
                <a16:creationId xmlns:a16="http://schemas.microsoft.com/office/drawing/2014/main" id="{9CA97492-BC7A-4516-A7BB-23FAE00D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71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参考图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11-source-3-body">
            <a:extLst xmlns:a="http://schemas.openxmlformats.org/drawingml/2006/main">
              <a:ext uri="{FF2B5EF4-FFF2-40B4-BE49-F238E27FC236}">
                <a16:creationId xmlns:a16="http://schemas.microsoft.com/office/drawing/2014/main" id="{B425220B-1CEE-4234-8250-335FF03A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145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利用多模态模型的图像理解能力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s11-slash-1">
            <a:extLst xmlns:a="http://schemas.openxmlformats.org/drawingml/2006/main">
              <a:ext uri="{FF2B5EF4-FFF2-40B4-BE49-F238E27FC236}">
                <a16:creationId xmlns:a16="http://schemas.microsoft.com/office/drawing/2014/main" id="{0B2B8136-125D-4F4B-ABC1-5B50C726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193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6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/</a:t>
            </a:r>
            <a:endParaRPr sz="23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s11-slash-2">
            <a:extLst xmlns:a="http://schemas.openxmlformats.org/drawingml/2006/main">
              <a:ext uri="{FF2B5EF4-FFF2-40B4-BE49-F238E27FC236}">
                <a16:creationId xmlns:a16="http://schemas.microsoft.com/office/drawing/2014/main" id="{1763C1F3-99EE-441B-BD98-387D7180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193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6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/</a:t>
            </a:r>
            <a:endParaRPr sz="23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11-design-skill">
            <a:extLst xmlns:a="http://schemas.openxmlformats.org/drawingml/2006/main">
              <a:ext uri="{FF2B5EF4-FFF2-40B4-BE49-F238E27FC236}">
                <a16:creationId xmlns:a16="http://schemas.microsoft.com/office/drawing/2014/main" id="{5ADC7998-736C-4D36-8E34-185622EF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47825"/>
            <a:ext cx="2857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8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11-design-skill-accent">
            <a:extLst xmlns:a="http://schemas.openxmlformats.org/drawingml/2006/main">
              <a:ext uri="{FF2B5EF4-FFF2-40B4-BE49-F238E27FC236}">
                <a16:creationId xmlns:a16="http://schemas.microsoft.com/office/drawing/2014/main" id="{75BA7C9C-9892-46FB-9FD3-7710B961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47825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11-design-skill-title">
            <a:extLst xmlns:a="http://schemas.openxmlformats.org/drawingml/2006/main">
              <a:ext uri="{FF2B5EF4-FFF2-40B4-BE49-F238E27FC236}">
                <a16:creationId xmlns:a16="http://schemas.microsoft.com/office/drawing/2014/main" id="{F13E1C84-6636-45D9-8CD5-97EF9D34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71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3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Design-skill</a:t>
            </a:r>
            <a:endParaRPr sz="1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11-design-skill-body">
            <a:extLst xmlns:a="http://schemas.openxmlformats.org/drawingml/2006/main">
              <a:ext uri="{FF2B5EF4-FFF2-40B4-BE49-F238E27FC236}">
                <a16:creationId xmlns:a16="http://schemas.microsoft.com/office/drawing/2014/main" id="{9573784A-8DBA-42C0-A99C-B6BC76F6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145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配色  ·  字体  ·  层级  ·  布局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endParaRPr sz="1200"/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图表主题  ·  Design Tokens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s11-source-arrow">
            <a:extLst xmlns:a="http://schemas.openxmlformats.org/drawingml/2006/main">
              <a:ext uri="{FF2B5EF4-FFF2-40B4-BE49-F238E27FC236}">
                <a16:creationId xmlns:a16="http://schemas.microsoft.com/office/drawing/2014/main" id="{1F373B3E-1DA0-4A41-83C2-551F5D7F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61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78C9E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>
                <a:solidFill>
                  <a:srgbClr val="78C9EE"/>
                </a:solidFill>
                <a:latin typeface="Hiragino Sans GB W6"/>
                <a:ea typeface="Hiragino Sans GB W6"/>
                <a:cs typeface="Hiragino Sans GB W6"/>
              </a:rPr>
              <a:t>→</a:t>
            </a:r>
            <a:endParaRPr sz="2400">
              <a:solidFill>
                <a:srgbClr val="78C9EE"/>
              </a:solidFill>
              <a:latin typeface="Hiragino Sans GB W6"/>
              <a:ea typeface="Hiragino Sans GB W6"/>
              <a:cs typeface="Hiragino Sans GB W6"/>
            </a:endParaRPr>
          </a:p>
        </p:txBody>
      </p:sp>
      <p:sp>
        <p:nvSpPr>
          <p:cNvPr id="58" name="s11-planning">
            <a:extLst xmlns:a="http://schemas.openxmlformats.org/drawingml/2006/main">
              <a:ext uri="{FF2B5EF4-FFF2-40B4-BE49-F238E27FC236}">
                <a16:creationId xmlns:a16="http://schemas.microsoft.com/office/drawing/2014/main" id="{83CDE462-612C-444E-8EE9-94D82DB9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设计思路</a:t>
            </a:r>
            <a:endParaRPr sz="11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s11-flow-title">
            <a:extLst xmlns:a="http://schemas.openxmlformats.org/drawingml/2006/main">
              <a:ext uri="{FF2B5EF4-FFF2-40B4-BE49-F238E27FC236}">
                <a16:creationId xmlns:a16="http://schemas.microsoft.com/office/drawing/2014/main" id="{0C3D6F10-5730-4092-8960-090DD08C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建立受控的设计语言提取工作流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s11-flow-band-1">
            <a:extLst xmlns:a="http://schemas.openxmlformats.org/drawingml/2006/main">
              <a:ext uri="{FF2B5EF4-FFF2-40B4-BE49-F238E27FC236}">
                <a16:creationId xmlns:a16="http://schemas.microsoft.com/office/drawing/2014/main" id="{B68486C0-7A64-4C3A-9A97-734067C1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10858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11-flow-text-1">
            <a:extLst xmlns:a="http://schemas.openxmlformats.org/drawingml/2006/main">
              <a:ext uri="{FF2B5EF4-FFF2-40B4-BE49-F238E27FC236}">
                <a16:creationId xmlns:a16="http://schemas.microsoft.com/office/drawing/2014/main" id="{93701BBD-AABE-4D4D-ADC1-7EF5F441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86225"/>
            <a:ext cx="89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 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来源准入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s11-flow-band-2">
            <a:extLst xmlns:a="http://schemas.openxmlformats.org/drawingml/2006/main">
              <a:ext uri="{FF2B5EF4-FFF2-40B4-BE49-F238E27FC236}">
                <a16:creationId xmlns:a16="http://schemas.microsoft.com/office/drawing/2014/main" id="{7374F61C-ABC9-4E55-9842-D68769F0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067175"/>
            <a:ext cx="10858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E8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s11-flow-text-2">
            <a:extLst xmlns:a="http://schemas.openxmlformats.org/drawingml/2006/main">
              <a:ext uri="{FF2B5EF4-FFF2-40B4-BE49-F238E27FC236}">
                <a16:creationId xmlns:a16="http://schemas.microsoft.com/office/drawing/2014/main" id="{7303B26B-6410-43B2-9075-CB23B859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86225"/>
            <a:ext cx="89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 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视觉解析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4" name="s11-flow-band-3">
            <a:extLst xmlns:a="http://schemas.openxmlformats.org/drawingml/2006/main">
              <a:ext uri="{FF2B5EF4-FFF2-40B4-BE49-F238E27FC236}">
                <a16:creationId xmlns:a16="http://schemas.microsoft.com/office/drawing/2014/main" id="{5C14DFE2-DB7C-4D8B-AED4-98221079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67175"/>
            <a:ext cx="10858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11-flow-text-3">
            <a:extLst xmlns:a="http://schemas.openxmlformats.org/drawingml/2006/main">
              <a:ext uri="{FF2B5EF4-FFF2-40B4-BE49-F238E27FC236}">
                <a16:creationId xmlns:a16="http://schemas.microsoft.com/office/drawing/2014/main" id="{3684C4E8-C1B0-425A-AF09-7EC35FD3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086225"/>
            <a:ext cx="89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Token 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归一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6" name="s11-flow-band-4">
            <a:extLst xmlns:a="http://schemas.openxmlformats.org/drawingml/2006/main">
              <a:ext uri="{FF2B5EF4-FFF2-40B4-BE49-F238E27FC236}">
                <a16:creationId xmlns:a16="http://schemas.microsoft.com/office/drawing/2014/main" id="{4CF6BEE3-7048-4825-8C30-06700931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067175"/>
            <a:ext cx="10858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s11-flow-text-4">
            <a:extLst xmlns:a="http://schemas.openxmlformats.org/drawingml/2006/main">
              <a:ext uri="{FF2B5EF4-FFF2-40B4-BE49-F238E27FC236}">
                <a16:creationId xmlns:a16="http://schemas.microsoft.com/office/drawing/2014/main" id="{EDD5E438-DB3B-48A9-A3F8-0F60221D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86225"/>
            <a:ext cx="95186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试生成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对照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s11-flow-band-5">
            <a:extLst xmlns:a="http://schemas.openxmlformats.org/drawingml/2006/main">
              <a:ext uri="{FF2B5EF4-FFF2-40B4-BE49-F238E27FC236}">
                <a16:creationId xmlns:a16="http://schemas.microsoft.com/office/drawing/2014/main" id="{167FFB7D-142E-4D42-89C8-61B3AE64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67175"/>
            <a:ext cx="10858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8D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s11-flow-text-5">
            <a:extLst xmlns:a="http://schemas.openxmlformats.org/drawingml/2006/main">
              <a:ext uri="{FF2B5EF4-FFF2-40B4-BE49-F238E27FC236}">
                <a16:creationId xmlns:a16="http://schemas.microsoft.com/office/drawing/2014/main" id="{EFBCC0A8-875A-4B05-A606-AB965610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86225"/>
            <a:ext cx="89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     </a:t>
            </a:r>
            <a:r>
              <a: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审核发布</a:t>
            </a:r>
            <a:endParaRPr sz="105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0" name="s11-flow-desc">
            <a:extLst xmlns:a="http://schemas.openxmlformats.org/drawingml/2006/main">
              <a:ext uri="{FF2B5EF4-FFF2-40B4-BE49-F238E27FC236}">
                <a16:creationId xmlns:a16="http://schemas.microsoft.com/office/drawing/2014/main" id="{E2DBB719-1B66-4A96-B692-73A8820E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每一步保留输入、转换结果和审阅记录；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提取结果经过试生成对照后，才能发布为可用资产。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1" name="s11-structure-title">
            <a:extLst xmlns:a="http://schemas.openxmlformats.org/drawingml/2006/main">
              <a:ext uri="{FF2B5EF4-FFF2-40B4-BE49-F238E27FC236}">
                <a16:creationId xmlns:a16="http://schemas.microsoft.com/office/drawing/2014/main" id="{1E7BBC1E-3777-4EB8-B351-908E8715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75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建立标准化的Design-skill结构与规范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s11-row-line-1">
            <a:extLst xmlns:a="http://schemas.openxmlformats.org/drawingml/2006/main">
              <a:ext uri="{FF2B5EF4-FFF2-40B4-BE49-F238E27FC236}">
                <a16:creationId xmlns:a16="http://schemas.microsoft.com/office/drawing/2014/main" id="{8B4DAB47-1D0A-47FF-BE5E-674C3383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053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s11-row-label-1">
            <a:extLst xmlns:a="http://schemas.openxmlformats.org/drawingml/2006/main">
              <a:ext uri="{FF2B5EF4-FFF2-40B4-BE49-F238E27FC236}">
                <a16:creationId xmlns:a16="http://schemas.microsoft.com/office/drawing/2014/main" id="{4FD24581-47CA-423A-9D10-8F95FCA7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433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适用场景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4" name="s11-row-value-1">
            <a:extLst xmlns:a="http://schemas.openxmlformats.org/drawingml/2006/main">
              <a:ext uri="{FF2B5EF4-FFF2-40B4-BE49-F238E27FC236}">
                <a16:creationId xmlns:a16="http://schemas.microsoft.com/office/drawing/2014/main" id="{2F047B93-C267-4224-BCCD-FE992779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name、description 与触发条件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5" name="s11-row-line-2">
            <a:extLst xmlns:a="http://schemas.openxmlformats.org/drawingml/2006/main">
              <a:ext uri="{FF2B5EF4-FFF2-40B4-BE49-F238E27FC236}">
                <a16:creationId xmlns:a16="http://schemas.microsoft.com/office/drawing/2014/main" id="{8D9A6DD2-CA0F-4B3B-8D08-99BD183B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339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s11-row-label-2">
            <a:extLst xmlns:a="http://schemas.openxmlformats.org/drawingml/2006/main">
              <a:ext uri="{FF2B5EF4-FFF2-40B4-BE49-F238E27FC236}">
                <a16:creationId xmlns:a16="http://schemas.microsoft.com/office/drawing/2014/main" id="{4E310100-2E6D-4ABA-9113-36DB2226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719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视觉参数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7" name="s11-row-value-2">
            <a:extLst xmlns:a="http://schemas.openxmlformats.org/drawingml/2006/main">
              <a:ext uri="{FF2B5EF4-FFF2-40B4-BE49-F238E27FC236}">
                <a16:creationId xmlns:a16="http://schemas.microsoft.com/office/drawing/2014/main" id="{FD379FE6-DCEA-4795-A1ED-4A310283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7197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基础 Token 与语义 Token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8" name="s11-row-line-3">
            <a:extLst xmlns:a="http://schemas.openxmlformats.org/drawingml/2006/main">
              <a:ext uri="{FF2B5EF4-FFF2-40B4-BE49-F238E27FC236}">
                <a16:creationId xmlns:a16="http://schemas.microsoft.com/office/drawing/2014/main" id="{A3368503-7B46-4914-BC91-8EEED494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625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s11-row-label-3">
            <a:extLst xmlns:a="http://schemas.openxmlformats.org/drawingml/2006/main">
              <a:ext uri="{FF2B5EF4-FFF2-40B4-BE49-F238E27FC236}">
                <a16:creationId xmlns:a16="http://schemas.microsoft.com/office/drawing/2014/main" id="{5ED537F4-BC3A-473A-952C-7A4CAF4F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006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呈现规则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0" name="s11-row-value-3">
            <a:extLst xmlns:a="http://schemas.openxmlformats.org/drawingml/2006/main">
              <a:ext uri="{FF2B5EF4-FFF2-40B4-BE49-F238E27FC236}">
                <a16:creationId xmlns:a16="http://schemas.microsoft.com/office/drawing/2014/main" id="{AF428DE1-E1B9-44A7-8EDB-6B6467BF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0060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字体层级、间距布局、组件及图表主题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1" name="s11-row-line-4">
            <a:extLst xmlns:a="http://schemas.openxmlformats.org/drawingml/2006/main">
              <a:ext uri="{FF2B5EF4-FFF2-40B4-BE49-F238E27FC236}">
                <a16:creationId xmlns:a16="http://schemas.microsoft.com/office/drawing/2014/main" id="{7AC77898-C6F0-4B99-B8FE-F7CD0888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91175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s11-row-label-4">
            <a:extLst xmlns:a="http://schemas.openxmlformats.org/drawingml/2006/main">
              <a:ext uri="{FF2B5EF4-FFF2-40B4-BE49-F238E27FC236}">
                <a16:creationId xmlns:a16="http://schemas.microsoft.com/office/drawing/2014/main" id="{076DA125-6849-4517-AA13-0220B9C3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292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治理规则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3" name="s11-row-value-4">
            <a:extLst xmlns:a="http://schemas.openxmlformats.org/drawingml/2006/main">
              <a:ext uri="{FF2B5EF4-FFF2-40B4-BE49-F238E27FC236}">
                <a16:creationId xmlns:a16="http://schemas.microsoft.com/office/drawing/2014/main" id="{43CB1904-7E0C-477A-9B21-A802D768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292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验证、版本、发布与回滚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s11-structure-desc">
            <a:extLst xmlns:a="http://schemas.openxmlformats.org/drawingml/2006/main">
              <a:ext uri="{FF2B5EF4-FFF2-40B4-BE49-F238E27FC236}">
                <a16:creationId xmlns:a16="http://schemas.microsoft.com/office/drawing/2014/main" id="{C016D363-DDCE-48A3-9528-527E07FF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245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统一命名和字段边界，让 Agent 能够稳定读取、组合和验证设计语言。</a:t>
            </a:r>
            <a:endParaRPr sz="11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9809486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B3C764D8-4D6A-42D1-A0BC-97CA42CA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38D45A8-1CF4-4189-AE2F-71004636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04 · 生成闭环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58B6B57-2BDC-4F91-BF25-FE6CB183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完整报告生成与可行性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验证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425DFC0-C6C3-4FAE-A821-31776976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E3357ED-1CE1-47C9-B705-5D2E706E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AA5936C-CC5F-4B12-B1B4-828DE6E5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11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s12-halo-1">
            <a:extLst xmlns:a="http://schemas.openxmlformats.org/drawingml/2006/main">
              <a:ext uri="{FF2B5EF4-FFF2-40B4-BE49-F238E27FC236}">
                <a16:creationId xmlns:a16="http://schemas.microsoft.com/office/drawing/2014/main" id="{2DA6074B-4DA5-4115-A887-A33B1F52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420" y="2162175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12-dot-1">
            <a:extLst xmlns:a="http://schemas.openxmlformats.org/drawingml/2006/main">
              <a:ext uri="{FF2B5EF4-FFF2-40B4-BE49-F238E27FC236}">
                <a16:creationId xmlns:a16="http://schemas.microsoft.com/office/drawing/2014/main" id="{85C28D80-EE3F-4F3E-B58D-2DFDF2A2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170" y="28289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12-check-1">
            <a:extLst xmlns:a="http://schemas.openxmlformats.org/drawingml/2006/main">
              <a:ext uri="{FF2B5EF4-FFF2-40B4-BE49-F238E27FC236}">
                <a16:creationId xmlns:a16="http://schemas.microsoft.com/office/drawing/2014/main" id="{7B18E70E-191C-408C-A502-F291BCA4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170" y="28289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✓</a:t>
            </a:r>
            <a:endParaRPr sz="2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12-label-1">
            <a:extLst xmlns:a="http://schemas.openxmlformats.org/drawingml/2006/main">
              <a:ext uri="{FF2B5EF4-FFF2-40B4-BE49-F238E27FC236}">
                <a16:creationId xmlns:a16="http://schemas.microsoft.com/office/drawing/2014/main" id="{ECC126AC-B54A-4054-9874-4E0F15A8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170" y="1733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真实场景</a:t>
            </a: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验证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s12-title-1">
            <a:extLst xmlns:a="http://schemas.openxmlformats.org/drawingml/2006/main">
              <a:ext uri="{FF2B5EF4-FFF2-40B4-BE49-F238E27FC236}">
                <a16:creationId xmlns:a16="http://schemas.microsoft.com/office/drawing/2014/main" id="{9013745D-DBC5-447D-BC42-1EBBC50A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170" y="4308475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招商智能体 已成功验证 Agent 通过报告模板生成完整报告的可行性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12-body-1">
            <a:extLst xmlns:a="http://schemas.openxmlformats.org/drawingml/2006/main">
              <a:ext uri="{FF2B5EF4-FFF2-40B4-BE49-F238E27FC236}">
                <a16:creationId xmlns:a16="http://schemas.microsoft.com/office/drawing/2014/main" id="{4E0A402F-796C-4941-887A-8C2B1135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170" y="51847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从用户需求到报告生成，到结果预览的闭环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2-halo-2">
            <a:extLst xmlns:a="http://schemas.openxmlformats.org/drawingml/2006/main">
              <a:ext uri="{FF2B5EF4-FFF2-40B4-BE49-F238E27FC236}">
                <a16:creationId xmlns:a16="http://schemas.microsoft.com/office/drawing/2014/main" id="{8B70225C-FAEF-4DCE-AED1-5823C96A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4920" y="2162175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12-dot-2">
            <a:extLst xmlns:a="http://schemas.openxmlformats.org/drawingml/2006/main">
              <a:ext uri="{FF2B5EF4-FFF2-40B4-BE49-F238E27FC236}">
                <a16:creationId xmlns:a16="http://schemas.microsoft.com/office/drawing/2014/main" id="{36988C87-BDAE-4F4B-8638-AD71E29B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670" y="28289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12-check-2">
            <a:extLst xmlns:a="http://schemas.openxmlformats.org/drawingml/2006/main">
              <a:ext uri="{FF2B5EF4-FFF2-40B4-BE49-F238E27FC236}">
                <a16:creationId xmlns:a16="http://schemas.microsoft.com/office/drawing/2014/main" id="{DD888AEE-428D-40D9-AAF4-BE878479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1670" y="28289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✓</a:t>
            </a:r>
            <a:endParaRPr sz="2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2-label-2">
            <a:extLst xmlns:a="http://schemas.openxmlformats.org/drawingml/2006/main">
              <a:ext uri="{FF2B5EF4-FFF2-40B4-BE49-F238E27FC236}">
                <a16:creationId xmlns:a16="http://schemas.microsoft.com/office/drawing/2014/main" id="{B6642AF6-7D8B-4038-870D-92283B41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670" y="1733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POC验证</a:t>
            </a:r>
            <a:endParaRPr sz="120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12-title-2">
            <a:extLst xmlns:a="http://schemas.openxmlformats.org/drawingml/2006/main">
              <a:ext uri="{FF2B5EF4-FFF2-40B4-BE49-F238E27FC236}">
                <a16:creationId xmlns:a16="http://schemas.microsoft.com/office/drawing/2014/main" id="{1FB8AA62-09B5-4949-AF25-08975F1C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670" y="4308475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模板管理平台 POC 已成功验证 Agent 生成模板</a:t>
            </a: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、模板匹配</a:t>
            </a: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的可行性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12-body-2">
            <a:extLst xmlns:a="http://schemas.openxmlformats.org/drawingml/2006/main">
              <a:ext uri="{FF2B5EF4-FFF2-40B4-BE49-F238E27FC236}">
                <a16:creationId xmlns:a16="http://schemas.microsoft.com/office/drawing/2014/main" id="{7DBDC70B-352D-48E2-8C64-86975428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84775"/>
            <a:ext cx="412877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进一步把模板生产和报告生成连接成可持续迭代的产品闭环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2012387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4D0172FB-8A7F-4839-BFA0-827D9F13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AB4C142-B216-4E58-8E16-5FE8EC1B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05 · 核心价值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593BF0E-6E5C-4E34-B0CD-5D33B361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模板变更从代码开发转为内容维护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F07A53E6-E3A1-4B70-AA7D-D9950887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787DFDD-FC6C-4041-865A-F7A228F9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F094C5F-53DE-4A79-A6ED-3B7C026D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12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13-conclusion">
            <a:extLst xmlns:a="http://schemas.openxmlformats.org/drawingml/2006/main">
              <a:ext uri="{FF2B5EF4-FFF2-40B4-BE49-F238E27FC236}">
                <a16:creationId xmlns:a16="http://schemas.microsoft.com/office/drawing/2014/main" id="{240361BA-7657-4FC2-9E08-54A4FF79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0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变更成本从“研发工程”降为“内容编辑”</a:t>
            </a:r>
            <a:endParaRPr sz="1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1EF4A7D-1CED-4E4B-854B-150AEEE4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A05A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A05A5A"/>
                </a:solidFill>
                <a:latin typeface="Hiragino Sans GB"/>
                <a:ea typeface="Hiragino Sans GB"/>
                <a:cs typeface="Hiragino Sans GB"/>
              </a:rPr>
              <a:t>传统模式</a:t>
            </a:r>
            <a:endParaRPr sz="2100" b="1">
              <a:solidFill>
                <a:srgbClr val="A05A5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485C276-3C35-4D64-B1DB-268BBEEA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90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4E8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4E857A"/>
                </a:solidFill>
                <a:latin typeface="Hiragino Sans GB"/>
                <a:ea typeface="Hiragino Sans GB"/>
                <a:cs typeface="Hiragino Sans GB"/>
              </a:rPr>
              <a:t>Prompt 模式</a:t>
            </a:r>
            <a:endParaRPr sz="2100" b="1">
              <a:solidFill>
                <a:srgbClr val="4E857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460AEBB-89E8-481F-875D-94835D61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527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变更对象</a:t>
            </a:r>
            <a:endParaRPr sz="1350" b="1">
              <a:solidFill>
                <a:srgbClr val="6474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503AFA30-9EB4-47F0-9821-06EFAD98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E9E9"/>
          </a:solidFill>
          <a:ln xmlns:a="http://schemas.openxmlformats.org/drawingml/2006/main" w="9525">
            <a:solidFill>
              <a:srgbClr val="A05A5A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328048B7-09D8-4A2E-BC00-941F0FF0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6F2EE"/>
          </a:solidFill>
          <a:ln xmlns:a="http://schemas.openxmlformats.org/drawingml/2006/main" w="9525">
            <a:solidFill>
              <a:srgbClr val="4E857A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E7AA1977-67CD-4A6A-8F09-BD445AE6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B95C5C"/>
                </a:solidFill>
              </a:rPr>
              <a:t>修改前后端模板代码</a:t>
            </a:r>
            <a:endParaRPr sz="1500" b="0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C9D09563-CA34-4B46-9271-458AD91C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5270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b="1">
                <a:solidFill>
                  <a:srgbClr val="4D8B80"/>
                </a:solidFill>
              </a:rPr>
              <a:t>通过 Agent 辅助</a:t>
            </a:r>
            <a:r>
              <a:rPr b="1">
                <a:solidFill>
                  <a:srgbClr val="4D8B80"/>
                </a:solidFill>
              </a:rPr>
              <a:t>调整</a:t>
            </a:r>
            <a:r>
              <a:rPr b="1">
                <a:solidFill>
                  <a:srgbClr val="4D8B80"/>
                </a:solidFill>
              </a:rPr>
              <a:t>Prompt</a:t>
            </a:r>
            <a:endParaRPr b="1">
              <a:solidFill>
                <a:srgbClr val="4D8B80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BB5936B-77C4-4571-B1A1-D718ED78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33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变更流程</a:t>
            </a:r>
            <a:endParaRPr sz="1350" b="1">
              <a:solidFill>
                <a:srgbClr val="6474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D2AFBAB3-B2D5-4591-8D72-6D2D5904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E9E9"/>
          </a:solidFill>
          <a:ln xmlns:a="http://schemas.openxmlformats.org/drawingml/2006/main" w="9525">
            <a:solidFill>
              <a:srgbClr val="A05A5A"/>
            </a:solidFill>
            <a:prstDash val="solid"/>
          </a:ln>
        </p:spPr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270DF4FB-EEAE-43D6-AEA4-65FD1F3C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6F2EE"/>
          </a:solidFill>
          <a:ln xmlns:a="http://schemas.openxmlformats.org/drawingml/2006/main" w="9525">
            <a:solidFill>
              <a:srgbClr val="4E857A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CEAC4B4A-3D07-4BDD-8DA9-E4C57A26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B95C5C"/>
                </a:solidFill>
              </a:rPr>
              <a:t>进入研发排期与联调</a:t>
            </a:r>
            <a:r>
              <a:rPr sz="1500" b="1">
                <a:solidFill>
                  <a:srgbClr val="B95C5C"/>
                </a:solidFill>
              </a:rPr>
              <a:t>，</a:t>
            </a:r>
            <a:r>
              <a:rPr sz="1500"/>
              <a:t>重新测试和部署</a:t>
            </a:r>
            <a:endParaRPr sz="150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0C633A7-6016-4BC0-A2F2-CD511B11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3375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4D8B80"/>
                </a:solidFill>
                <a:latin typeface="Hiragino Sans GB"/>
                <a:ea typeface="Hiragino Sans GB"/>
                <a:cs typeface="Hiragino Sans GB"/>
              </a:rPr>
              <a:t>模板管理台完成调整，实时发布</a:t>
            </a:r>
            <a:endParaRPr sz="1500" b="0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9DC2EE8-EB1E-4B5C-91E3-8BA86290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148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变更耗时</a:t>
            </a:r>
            <a:endParaRPr sz="1350" b="1">
              <a:solidFill>
                <a:srgbClr val="6474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BE72F118-7636-4E57-BE07-897E44DE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E9E9"/>
          </a:solidFill>
          <a:ln xmlns:a="http://schemas.openxmlformats.org/drawingml/2006/main" w="9525">
            <a:solidFill>
              <a:srgbClr val="A05A5A"/>
            </a:solidFill>
            <a:prstDash val="solid"/>
          </a:ln>
        </p:spPr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9C1A20EC-D4AA-4319-BCBC-E8399F84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4335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6F2EE"/>
          </a:solidFill>
          <a:ln xmlns:a="http://schemas.openxmlformats.org/drawingml/2006/main" w="9525">
            <a:solidFill>
              <a:srgbClr val="4E857A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636682C-4672-4A90-A667-23F26811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通常以天为单位</a:t>
            </a:r>
            <a:endParaRPr sz="1500" b="0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DD543647-B237-4094-BBF1-9313A46F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1480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E8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4E857A"/>
                </a:solidFill>
                <a:latin typeface="Hiragino Sans GB"/>
                <a:ea typeface="Hiragino Sans GB"/>
                <a:cs typeface="Hiragino Sans GB"/>
              </a:rPr>
              <a:t>快至几分钟</a:t>
            </a:r>
            <a:endParaRPr sz="1500" b="1">
              <a:solidFill>
                <a:srgbClr val="4E857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5258105F-E319-48F7-A93E-D58AE6EF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958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复用</a:t>
            </a:r>
            <a:r>
              <a:rPr sz="1350" b="1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程度</a:t>
            </a:r>
            <a:endParaRPr sz="1350" b="1">
              <a:solidFill>
                <a:srgbClr val="64748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E7C34E4A-7728-4553-A775-7CA6DEE8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6E9E9"/>
          </a:solidFill>
          <a:ln xmlns:a="http://schemas.openxmlformats.org/drawingml/2006/main" w="9525">
            <a:solidFill>
              <a:srgbClr val="A05A5A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87ACAE8C-D140-4E2A-B661-C03C8626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24400"/>
            <a:ext cx="4286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6F2EE"/>
          </a:solidFill>
          <a:ln xmlns:a="http://schemas.openxmlformats.org/drawingml/2006/main" w="9525">
            <a:solidFill>
              <a:srgbClr val="4E857A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EFA2919-A249-4E7C-AE20-B8D06EE6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B95C5C"/>
                </a:solidFill>
              </a:rPr>
              <a:t>新场景重复建设</a:t>
            </a:r>
            <a:endParaRPr sz="1500" b="0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7C385144-4AC8-41E5-9C4A-B38CA8A6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9585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428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4D8B80"/>
                </a:solidFill>
                <a:latin typeface="Hiragino Sans GB"/>
                <a:ea typeface="Hiragino Sans GB"/>
                <a:cs typeface="Hiragino Sans GB"/>
              </a:rPr>
              <a:t>一键切换历史版本、</a:t>
            </a:r>
            <a:r>
              <a:rPr b="1">
                <a:solidFill>
                  <a:srgbClr val="4D8B80"/>
                </a:solidFill>
              </a:rPr>
              <a:t>从已有模板扩展</a:t>
            </a:r>
            <a:endParaRPr sz="1500" b="0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7915849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64609C5-5E7F-4CF4-957B-69F461E0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ACDC011-23B6-4500-84AF-009B6C13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05 · 核心价值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90F5932-261C-4C56-917D-0AD3FDD8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设计语言适配不同受众和交付场景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38883F8-76EC-4539-804F-B2DA6612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9F0F21-8227-4716-87D8-07EB9EB4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62B5EAC-BA7B-42B2-A958-967892F2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13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s14-label">
            <a:extLst xmlns:a="http://schemas.openxmlformats.org/drawingml/2006/main">
              <a:ext uri="{FF2B5EF4-FFF2-40B4-BE49-F238E27FC236}">
                <a16:creationId xmlns:a16="http://schemas.microsoft.com/office/drawing/2014/main" id="{C443045C-E701-4C53-91B6-8AB4768C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多对多组合</a:t>
            </a:r>
            <a:endParaRPr sz="15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s14-left-1-circle">
            <a:extLst xmlns:a="http://schemas.openxmlformats.org/drawingml/2006/main">
              <a:ext uri="{FF2B5EF4-FFF2-40B4-BE49-F238E27FC236}">
                <a16:creationId xmlns:a16="http://schemas.microsoft.com/office/drawing/2014/main" id="{1BA86BC6-6914-46EE-87A3-0B9C2926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14-left-1-text">
            <a:extLst xmlns:a="http://schemas.openxmlformats.org/drawingml/2006/main">
              <a:ext uri="{FF2B5EF4-FFF2-40B4-BE49-F238E27FC236}">
                <a16:creationId xmlns:a16="http://schemas.microsoft.com/office/drawing/2014/main" id="{B60A7081-CD0B-488F-8489-11C814E4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s14-left-text-1">
            <a:extLst xmlns:a="http://schemas.openxmlformats.org/drawingml/2006/main">
              <a:ext uri="{FF2B5EF4-FFF2-40B4-BE49-F238E27FC236}">
                <a16:creationId xmlns:a16="http://schemas.microsoft.com/office/drawing/2014/main" id="{31AE59EB-87D6-469B-9782-69E12F6D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招商线索分析报告</a:t>
            </a:r>
            <a:endParaRPr sz="14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14-left-2-circle">
            <a:extLst xmlns:a="http://schemas.openxmlformats.org/drawingml/2006/main">
              <a:ext uri="{FF2B5EF4-FFF2-40B4-BE49-F238E27FC236}">
                <a16:creationId xmlns:a16="http://schemas.microsoft.com/office/drawing/2014/main" id="{B8F55B0B-4CE9-4249-8F0E-DCEA773E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14-left-2-text">
            <a:extLst xmlns:a="http://schemas.openxmlformats.org/drawingml/2006/main">
              <a:ext uri="{FF2B5EF4-FFF2-40B4-BE49-F238E27FC236}">
                <a16:creationId xmlns:a16="http://schemas.microsoft.com/office/drawing/2014/main" id="{4A75705C-F397-401E-87A2-8B1A9F27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14-left-text-2">
            <a:extLst xmlns:a="http://schemas.openxmlformats.org/drawingml/2006/main">
              <a:ext uri="{FF2B5EF4-FFF2-40B4-BE49-F238E27FC236}">
                <a16:creationId xmlns:a16="http://schemas.microsoft.com/office/drawing/2014/main" id="{F2C99A75-3F60-4141-BD78-45C2E543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企业画像报告</a:t>
            </a:r>
            <a:endParaRPr sz="14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s14-left-3-circle">
            <a:extLst xmlns:a="http://schemas.openxmlformats.org/drawingml/2006/main">
              <a:ext uri="{FF2B5EF4-FFF2-40B4-BE49-F238E27FC236}">
                <a16:creationId xmlns:a16="http://schemas.microsoft.com/office/drawing/2014/main" id="{9162B8E5-4480-4B30-9954-F2E653A3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14-left-3-text">
            <a:extLst xmlns:a="http://schemas.openxmlformats.org/drawingml/2006/main">
              <a:ext uri="{FF2B5EF4-FFF2-40B4-BE49-F238E27FC236}">
                <a16:creationId xmlns:a16="http://schemas.microsoft.com/office/drawing/2014/main" id="{39F0E30B-351C-4394-B8DA-CC8988E7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4-left-text-3">
            <a:extLst xmlns:a="http://schemas.openxmlformats.org/drawingml/2006/main">
              <a:ext uri="{FF2B5EF4-FFF2-40B4-BE49-F238E27FC236}">
                <a16:creationId xmlns:a16="http://schemas.microsoft.com/office/drawing/2014/main" id="{9765E39D-2137-4FEB-AC1E-A9EF3159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产业诊断报告</a:t>
            </a:r>
            <a:endParaRPr sz="14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14-right-1-circle">
            <a:extLst xmlns:a="http://schemas.openxmlformats.org/drawingml/2006/main">
              <a:ext uri="{FF2B5EF4-FFF2-40B4-BE49-F238E27FC236}">
                <a16:creationId xmlns:a16="http://schemas.microsoft.com/office/drawing/2014/main" id="{BE44EADD-DF63-4F6D-89ED-706EB321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47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14-right-1-text">
            <a:extLst xmlns:a="http://schemas.openxmlformats.org/drawingml/2006/main">
              <a:ext uri="{FF2B5EF4-FFF2-40B4-BE49-F238E27FC236}">
                <a16:creationId xmlns:a16="http://schemas.microsoft.com/office/drawing/2014/main" id="{710D4650-37E4-4A22-A817-9559BB9E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4-right-text-1">
            <a:extLst xmlns:a="http://schemas.openxmlformats.org/drawingml/2006/main">
              <a:ext uri="{FF2B5EF4-FFF2-40B4-BE49-F238E27FC236}">
                <a16:creationId xmlns:a16="http://schemas.microsoft.com/office/drawing/2014/main" id="{0206201C-AF73-4FB0-9C52-3C02AC97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特定行业风格</a:t>
            </a:r>
            <a:endParaRPr sz="14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14-right-2-circle">
            <a:extLst xmlns:a="http://schemas.openxmlformats.org/drawingml/2006/main">
              <a:ext uri="{FF2B5EF4-FFF2-40B4-BE49-F238E27FC236}">
                <a16:creationId xmlns:a16="http://schemas.microsoft.com/office/drawing/2014/main" id="{51DC546C-2012-4E2B-9F13-3CD3C67A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467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14-right-2-text">
            <a:extLst xmlns:a="http://schemas.openxmlformats.org/drawingml/2006/main">
              <a:ext uri="{FF2B5EF4-FFF2-40B4-BE49-F238E27FC236}">
                <a16:creationId xmlns:a16="http://schemas.microsoft.com/office/drawing/2014/main" id="{158FBE1C-2DE8-4723-BF1B-5B07F067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467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s14-right-text-2">
            <a:extLst xmlns:a="http://schemas.openxmlformats.org/drawingml/2006/main">
              <a:ext uri="{FF2B5EF4-FFF2-40B4-BE49-F238E27FC236}">
                <a16:creationId xmlns:a16="http://schemas.microsoft.com/office/drawing/2014/main" id="{771068B8-3E4D-4472-817F-4FED2578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特定受众风格</a:t>
            </a:r>
            <a:endParaRPr sz="14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14-right-3-circle">
            <a:extLst xmlns:a="http://schemas.openxmlformats.org/drawingml/2006/main">
              <a:ext uri="{FF2B5EF4-FFF2-40B4-BE49-F238E27FC236}">
                <a16:creationId xmlns:a16="http://schemas.microsoft.com/office/drawing/2014/main" id="{E24E0A93-7C21-4A85-8965-EE65A5F5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286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14-right-3-text">
            <a:extLst xmlns:a="http://schemas.openxmlformats.org/drawingml/2006/main">
              <a:ext uri="{FF2B5EF4-FFF2-40B4-BE49-F238E27FC236}">
                <a16:creationId xmlns:a16="http://schemas.microsoft.com/office/drawing/2014/main" id="{7E43F1E0-B086-4CDC-94C2-641379CC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286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1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4-right-text-3">
            <a:extLst xmlns:a="http://schemas.openxmlformats.org/drawingml/2006/main">
              <a:ext uri="{FF2B5EF4-FFF2-40B4-BE49-F238E27FC236}">
                <a16:creationId xmlns:a16="http://schemas.microsoft.com/office/drawing/2014/main" id="{F7B201C6-AF9B-4FC4-9305-6FCD892A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客户定制风格</a:t>
            </a:r>
            <a:endParaRPr sz="14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s14-center-halo">
            <a:extLst xmlns:a="http://schemas.openxmlformats.org/drawingml/2006/main">
              <a:ext uri="{FF2B5EF4-FFF2-40B4-BE49-F238E27FC236}">
                <a16:creationId xmlns:a16="http://schemas.microsoft.com/office/drawing/2014/main" id="{E8B0322E-794B-4D61-ACCF-738CCEC4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57425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14-center">
            <a:extLst xmlns:a="http://schemas.openxmlformats.org/drawingml/2006/main">
              <a:ext uri="{FF2B5EF4-FFF2-40B4-BE49-F238E27FC236}">
                <a16:creationId xmlns:a16="http://schemas.microsoft.com/office/drawing/2014/main" id="{41E030A6-FCE9-4EC9-B561-40D7FF5B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9187"/>
            </a:solidFill>
            <a:prstDash val="solid"/>
          </a:ln>
        </p:spPr>
      </p:sp>
      <p:sp>
        <p:nvSpPr>
          <p:cNvPr id="49" name="s14-center-text">
            <a:extLst xmlns:a="http://schemas.openxmlformats.org/drawingml/2006/main">
              <a:ext uri="{FF2B5EF4-FFF2-40B4-BE49-F238E27FC236}">
                <a16:creationId xmlns:a16="http://schemas.microsoft.com/office/drawing/2014/main" id="{F23F419D-5577-48AD-8596-0E1841EB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71825"/>
            <a:ext cx="1619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按受众和场景</a:t>
            </a:r>
            <a:endParaRPr sz="20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选择适合的组合</a:t>
            </a:r>
            <a:endParaRPr sz="20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14-left-flow">
            <a:extLst xmlns:a="http://schemas.openxmlformats.org/drawingml/2006/main">
              <a:ext uri="{FF2B5EF4-FFF2-40B4-BE49-F238E27FC236}">
                <a16:creationId xmlns:a16="http://schemas.microsoft.com/office/drawing/2014/main" id="{9127FEF8-C8DB-42A3-B184-C394A84C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065" y="366712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8C9EE"/>
            </a:solidFill>
            <a:prstDash val="solid"/>
          </a:ln>
        </p:spPr>
      </p:sp>
      <p:sp>
        <p:nvSpPr>
          <p:cNvPr id="51" name="s14-right-flow">
            <a:extLst xmlns:a="http://schemas.openxmlformats.org/drawingml/2006/main">
              <a:ext uri="{FF2B5EF4-FFF2-40B4-BE49-F238E27FC236}">
                <a16:creationId xmlns:a16="http://schemas.microsoft.com/office/drawing/2014/main" id="{C999714D-11E5-41F3-A4C9-DDB815BE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810" y="36480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DDA8"/>
            </a:solidFill>
            <a:prstDash val="solid"/>
          </a:ln>
        </p:spPr>
      </p:sp>
      <p:sp>
        <p:nvSpPr>
          <p:cNvPr id="52" name="s14-conclusion">
            <a:extLst xmlns:a="http://schemas.openxmlformats.org/drawingml/2006/main">
              <a:ext uri="{FF2B5EF4-FFF2-40B4-BE49-F238E27FC236}">
                <a16:creationId xmlns:a16="http://schemas.microsoft.com/office/drawing/2014/main" id="{14097C6B-CDA9-4C3C-AC18-48D2CDFD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8609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同一内容可切换多种风格，一套设计语言也能服务多类报告。</a:t>
            </a:r>
            <a:endParaRPr sz="14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60969725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C49DA40E-952D-46FC-9B47-F46B1E67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1AD5586-AEF6-4350-9537-607022CC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05 · 核心价值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2F51702-2F45-4ABD-86D5-1F0B13D8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结构化 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Prompt</a:t>
            </a: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提高报告生成稳定性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2C718CF4-67CD-415E-8E34-795B0BF5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F0F942D-0F9B-453F-AA47-7B2D6EB5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9BC1BA-95A5-4CCC-BAA1-C7D23D47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14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s15-left-head">
            <a:extLst xmlns:a="http://schemas.openxmlformats.org/drawingml/2006/main">
              <a:ext uri="{FF2B5EF4-FFF2-40B4-BE49-F238E27FC236}">
                <a16:creationId xmlns:a16="http://schemas.microsoft.com/office/drawing/2014/main" id="{61B6ADF4-42CA-4A99-99A6-1F16D4A1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完全自由生成</a:t>
            </a:r>
            <a:endParaRPr sz="220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s15-left-sub">
            <a:extLst xmlns:a="http://schemas.openxmlformats.org/drawingml/2006/main">
              <a:ext uri="{FF2B5EF4-FFF2-40B4-BE49-F238E27FC236}">
                <a16:creationId xmlns:a16="http://schemas.microsoft.com/office/drawing/2014/main" id="{51DECD27-5B8F-49C2-B1B9-313C03F9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结构、数据和视觉随模型发挥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15-free-num-1">
            <a:extLst xmlns:a="http://schemas.openxmlformats.org/drawingml/2006/main">
              <a:ext uri="{FF2B5EF4-FFF2-40B4-BE49-F238E27FC236}">
                <a16:creationId xmlns:a16="http://schemas.microsoft.com/office/drawing/2014/main" id="{3A612FD3-A417-46BA-8948-48A45C38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82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01</a:t>
            </a:r>
            <a:endParaRPr sz="220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15-free-line-1">
            <a:extLst xmlns:a="http://schemas.openxmlformats.org/drawingml/2006/main">
              <a:ext uri="{FF2B5EF4-FFF2-40B4-BE49-F238E27FC236}">
                <a16:creationId xmlns:a16="http://schemas.microsoft.com/office/drawing/2014/main" id="{9EA6B949-9F7A-4CA7-814E-8AE6D571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9527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15-free-title-1">
            <a:extLst xmlns:a="http://schemas.openxmlformats.org/drawingml/2006/main">
              <a:ext uri="{FF2B5EF4-FFF2-40B4-BE49-F238E27FC236}">
                <a16:creationId xmlns:a16="http://schemas.microsoft.com/office/drawing/2014/main" id="{742E2FAD-2246-43A0-842A-33C85E4E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908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结构容易漂移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s15-free-body-1">
            <a:extLst xmlns:a="http://schemas.openxmlformats.org/drawingml/2006/main">
              <a:ext uri="{FF2B5EF4-FFF2-40B4-BE49-F238E27FC236}">
                <a16:creationId xmlns:a16="http://schemas.microsoft.com/office/drawing/2014/main" id="{E3777D12-E11F-4158-8618-3B942BB2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242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章节和组件随运行变化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15-free-num-2">
            <a:extLst xmlns:a="http://schemas.openxmlformats.org/drawingml/2006/main">
              <a:ext uri="{FF2B5EF4-FFF2-40B4-BE49-F238E27FC236}">
                <a16:creationId xmlns:a16="http://schemas.microsoft.com/office/drawing/2014/main" id="{F2A30C85-3CFA-42F8-99FF-C2F02929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17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02</a:t>
            </a:r>
            <a:endParaRPr sz="220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5-free-line-2">
            <a:extLst xmlns:a="http://schemas.openxmlformats.org/drawingml/2006/main">
              <a:ext uri="{FF2B5EF4-FFF2-40B4-BE49-F238E27FC236}">
                <a16:creationId xmlns:a16="http://schemas.microsoft.com/office/drawing/2014/main" id="{594397CB-BF49-450E-9F09-C2E69989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862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15-free-title-2">
            <a:extLst xmlns:a="http://schemas.openxmlformats.org/drawingml/2006/main">
              <a:ext uri="{FF2B5EF4-FFF2-40B4-BE49-F238E27FC236}">
                <a16:creationId xmlns:a16="http://schemas.microsoft.com/office/drawing/2014/main" id="{932DC431-C6DE-4DF5-9A37-1F5FAF1F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242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业务口径不一致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s15-free-body-2">
            <a:extLst xmlns:a="http://schemas.openxmlformats.org/drawingml/2006/main">
              <a:ext uri="{FF2B5EF4-FFF2-40B4-BE49-F238E27FC236}">
                <a16:creationId xmlns:a16="http://schemas.microsoft.com/office/drawing/2014/main" id="{D7E38257-9FDE-40EF-AEE3-2086EBEF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576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数据解释依赖模型临场判断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5-free-num-3">
            <a:extLst xmlns:a="http://schemas.openxmlformats.org/drawingml/2006/main">
              <a:ext uri="{FF2B5EF4-FFF2-40B4-BE49-F238E27FC236}">
                <a16:creationId xmlns:a16="http://schemas.microsoft.com/office/drawing/2014/main" id="{3EA06839-E411-4BC4-A849-DB06A1C0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51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>
                <a:solidFill>
                  <a:srgbClr val="B95C5C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2200" b="1">
              <a:solidFill>
                <a:srgbClr val="B95C5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15-free-line-3">
            <a:extLst xmlns:a="http://schemas.openxmlformats.org/drawingml/2006/main">
              <a:ext uri="{FF2B5EF4-FFF2-40B4-BE49-F238E27FC236}">
                <a16:creationId xmlns:a16="http://schemas.microsoft.com/office/drawing/2014/main" id="{571ACF22-D597-4236-8124-77B9CAF4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196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15-free-title-3">
            <a:extLst xmlns:a="http://schemas.openxmlformats.org/drawingml/2006/main">
              <a:ext uri="{FF2B5EF4-FFF2-40B4-BE49-F238E27FC236}">
                <a16:creationId xmlns:a16="http://schemas.microsoft.com/office/drawing/2014/main" id="{936FE7C0-5CA1-4F1D-B928-B3285B73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577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优秀结果难复现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s15-free-body-3">
            <a:extLst xmlns:a="http://schemas.openxmlformats.org/drawingml/2006/main">
              <a:ext uri="{FF2B5EF4-FFF2-40B4-BE49-F238E27FC236}">
                <a16:creationId xmlns:a16="http://schemas.microsoft.com/office/drawing/2014/main" id="{1EB8A349-6DD4-402F-BA30-2EEC8817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911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模型或参数变化就可能得到另一种答案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15-divider">
            <a:extLst xmlns:a="http://schemas.openxmlformats.org/drawingml/2006/main">
              <a:ext uri="{FF2B5EF4-FFF2-40B4-BE49-F238E27FC236}">
                <a16:creationId xmlns:a16="http://schemas.microsoft.com/office/drawing/2014/main" id="{14AFF527-C651-4588-9E10-947BE81A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809750"/>
            <a:ext cx="2857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15-right-head">
            <a:extLst xmlns:a="http://schemas.openxmlformats.org/drawingml/2006/main">
              <a:ext uri="{FF2B5EF4-FFF2-40B4-BE49-F238E27FC236}">
                <a16:creationId xmlns:a16="http://schemas.microsoft.com/office/drawing/2014/main" id="{61398A07-178D-406A-98BB-6FC2D550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954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模板约束下生成</a:t>
            </a:r>
            <a:endParaRPr sz="23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5-right-sub">
            <a:extLst xmlns:a="http://schemas.openxmlformats.org/drawingml/2006/main">
              <a:ext uri="{FF2B5EF4-FFF2-40B4-BE49-F238E27FC236}">
                <a16:creationId xmlns:a16="http://schemas.microsoft.com/office/drawing/2014/main" id="{518DC612-7BC7-44BF-8A47-01FFF79B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955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验证与试生成预览提前暴露问题</a:t>
            </a:r>
            <a:endParaRPr sz="12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s15-guard-1">
            <a:extLst xmlns:a="http://schemas.openxmlformats.org/drawingml/2006/main">
              <a:ext uri="{FF2B5EF4-FFF2-40B4-BE49-F238E27FC236}">
                <a16:creationId xmlns:a16="http://schemas.microsoft.com/office/drawing/2014/main" id="{4A7303CA-10DB-4784-B8AD-0CAE5871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38425"/>
            <a:ext cx="4476750" cy="571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CF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15-guard-num-1">
            <a:extLst xmlns:a="http://schemas.openxmlformats.org/drawingml/2006/main">
              <a:ext uri="{FF2B5EF4-FFF2-40B4-BE49-F238E27FC236}">
                <a16:creationId xmlns:a16="http://schemas.microsoft.com/office/drawing/2014/main" id="{F2981E15-01B5-4592-9276-715BEFA5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01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s15-guard-title-1">
            <a:extLst xmlns:a="http://schemas.openxmlformats.org/drawingml/2006/main">
              <a:ext uri="{FF2B5EF4-FFF2-40B4-BE49-F238E27FC236}">
                <a16:creationId xmlns:a16="http://schemas.microsoft.com/office/drawing/2014/main" id="{DD7F12CA-F0B3-46C2-B48C-987E0CE8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574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收敛输出空间</a:t>
            </a:r>
            <a:endParaRPr sz="14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15-guard-body-1">
            <a:extLst xmlns:a="http://schemas.openxmlformats.org/drawingml/2006/main">
              <a:ext uri="{FF2B5EF4-FFF2-40B4-BE49-F238E27FC236}">
                <a16:creationId xmlns:a16="http://schemas.microsoft.com/office/drawing/2014/main" id="{5B9FBF8C-72B8-4A75-A13C-84A5C444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14650"/>
            <a:ext cx="309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限定模块、字段、数量与顺序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s15-guard-2">
            <a:extLst xmlns:a="http://schemas.openxmlformats.org/drawingml/2006/main">
              <a:ext uri="{FF2B5EF4-FFF2-40B4-BE49-F238E27FC236}">
                <a16:creationId xmlns:a16="http://schemas.microsoft.com/office/drawing/2014/main" id="{351F44BB-706D-468A-A174-7473A187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24225"/>
            <a:ext cx="4248150" cy="571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15-guard-num-2">
            <a:extLst xmlns:a="http://schemas.openxmlformats.org/drawingml/2006/main">
              <a:ext uri="{FF2B5EF4-FFF2-40B4-BE49-F238E27FC236}">
                <a16:creationId xmlns:a16="http://schemas.microsoft.com/office/drawing/2014/main" id="{81BC6A27-15F1-470B-A4DE-CA1501EB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362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02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15-guard-title-2">
            <a:extLst xmlns:a="http://schemas.openxmlformats.org/drawingml/2006/main">
              <a:ext uri="{FF2B5EF4-FFF2-40B4-BE49-F238E27FC236}">
                <a16:creationId xmlns:a16="http://schemas.microsoft.com/office/drawing/2014/main" id="{5D29B13D-6DBF-4E55-92A1-6A9309F5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432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统一业务语义</a:t>
            </a:r>
            <a:endParaRPr sz="14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s15-guard-body-2">
            <a:extLst xmlns:a="http://schemas.openxmlformats.org/drawingml/2006/main">
              <a:ext uri="{FF2B5EF4-FFF2-40B4-BE49-F238E27FC236}">
                <a16:creationId xmlns:a16="http://schemas.microsoft.com/office/drawing/2014/main" id="{DEFEDD57-C384-4B6A-ABE0-0A342293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00450"/>
            <a:ext cx="2867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固化变量、业务口径与数据契约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s15-guard-3">
            <a:extLst xmlns:a="http://schemas.openxmlformats.org/drawingml/2006/main">
              <a:ext uri="{FF2B5EF4-FFF2-40B4-BE49-F238E27FC236}">
                <a16:creationId xmlns:a16="http://schemas.microsoft.com/office/drawing/2014/main" id="{9D11FB10-E571-48A4-A2E2-10794F78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10025"/>
            <a:ext cx="4019550" cy="571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1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15-guard-num-3">
            <a:extLst xmlns:a="http://schemas.openxmlformats.org/drawingml/2006/main">
              <a:ext uri="{FF2B5EF4-FFF2-40B4-BE49-F238E27FC236}">
                <a16:creationId xmlns:a16="http://schemas.microsoft.com/office/drawing/2014/main" id="{4CC93CC8-2628-4DE6-9A3B-C245AC67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048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s15-guard-title-3">
            <a:extLst xmlns:a="http://schemas.openxmlformats.org/drawingml/2006/main">
              <a:ext uri="{FF2B5EF4-FFF2-40B4-BE49-F238E27FC236}">
                <a16:creationId xmlns:a16="http://schemas.microsoft.com/office/drawing/2014/main" id="{4C48931D-1CAA-47E5-8FF8-B50EB95D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290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明确异常边界</a:t>
            </a:r>
            <a:endParaRPr sz="14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8" name="s15-guard-body-3">
            <a:extLst xmlns:a="http://schemas.openxmlformats.org/drawingml/2006/main">
              <a:ext uri="{FF2B5EF4-FFF2-40B4-BE49-F238E27FC236}">
                <a16:creationId xmlns:a16="http://schemas.microsoft.com/office/drawing/2014/main" id="{C6454525-0F85-4F94-BADE-094DD347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86250"/>
            <a:ext cx="2638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规定缺失、冲突和不可比的处理方式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s15-guard-4">
            <a:extLst xmlns:a="http://schemas.openxmlformats.org/drawingml/2006/main">
              <a:ext uri="{FF2B5EF4-FFF2-40B4-BE49-F238E27FC236}">
                <a16:creationId xmlns:a16="http://schemas.microsoft.com/office/drawing/2014/main" id="{2728C24F-E19F-4EEB-87B6-F73C41C9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95825"/>
            <a:ext cx="3790950" cy="571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8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s15-guard-num-4">
            <a:extLst xmlns:a="http://schemas.openxmlformats.org/drawingml/2006/main">
              <a:ext uri="{FF2B5EF4-FFF2-40B4-BE49-F238E27FC236}">
                <a16:creationId xmlns:a16="http://schemas.microsoft.com/office/drawing/2014/main" id="{D26456DA-7E19-4CD0-8896-15CE632B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733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04</a:t>
            </a:r>
            <a:endParaRPr sz="12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s15-guard-title-4">
            <a:extLst xmlns:a="http://schemas.openxmlformats.org/drawingml/2006/main">
              <a:ext uri="{FF2B5EF4-FFF2-40B4-BE49-F238E27FC236}">
                <a16:creationId xmlns:a16="http://schemas.microsoft.com/office/drawing/2014/main" id="{BB6B80C7-573D-40A0-B6F5-BCA10380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148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阻断不合格结果</a:t>
            </a:r>
            <a:endParaRPr sz="14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s15-guard-body-4">
            <a:extLst xmlns:a="http://schemas.openxmlformats.org/drawingml/2006/main">
              <a:ext uri="{FF2B5EF4-FFF2-40B4-BE49-F238E27FC236}">
                <a16:creationId xmlns:a16="http://schemas.microsoft.com/office/drawing/2014/main" id="{8887ECE5-7ADB-4621-8B97-F62C8D00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72050"/>
            <a:ext cx="2409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通过验证和试生成预览提前发现问题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s15-conclusion">
            <a:extLst xmlns:a="http://schemas.openxmlformats.org/drawingml/2006/main">
              <a:ext uri="{FF2B5EF4-FFF2-40B4-BE49-F238E27FC236}">
                <a16:creationId xmlns:a16="http://schemas.microsoft.com/office/drawing/2014/main" id="{005F22B8-4437-46AC-98DE-E88F5334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864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质量从单次生成的偶然性，转为模板资产与生成校验共同保证的可复现过程。</a:t>
            </a:r>
            <a:endParaRPr sz="14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79494840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1F33EAB5-D4AB-401A-AA40-EFAFFCEE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2C14EA8-1FC8-4DB0-8216-2DE9F1C8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05 · 核心价值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45507CB-2050-43D5-9CB7-451480BA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独立模板平台让优秀经验跨场景沉淀、复用与治理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7ECA579E-22D3-4DE3-B59A-DDA9D827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7E273C2-0D60-4F7B-8CF3-59121DD1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8FA27EB-D2CD-4323-AE8F-C8CCCBC7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15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s16-track">
            <a:extLst xmlns:a="http://schemas.openxmlformats.org/drawingml/2006/main">
              <a:ext uri="{FF2B5EF4-FFF2-40B4-BE49-F238E27FC236}">
                <a16:creationId xmlns:a16="http://schemas.microsoft.com/office/drawing/2014/main" id="{9F483325-FCDA-432E-842F-50843F8F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1937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D3DF"/>
            </a:solidFill>
            <a:prstDash val="solid"/>
          </a:ln>
        </p:spPr>
      </p:sp>
      <p:sp>
        <p:nvSpPr>
          <p:cNvPr id="30" name="s16-station-1-circle">
            <a:extLst xmlns:a="http://schemas.openxmlformats.org/drawingml/2006/main">
              <a:ext uri="{FF2B5EF4-FFF2-40B4-BE49-F238E27FC236}">
                <a16:creationId xmlns:a16="http://schemas.microsoft.com/office/drawing/2014/main" id="{D39EF434-EB00-4B8E-893C-6EEFA3E9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A8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16-station-1-text">
            <a:extLst xmlns:a="http://schemas.openxmlformats.org/drawingml/2006/main">
              <a:ext uri="{FF2B5EF4-FFF2-40B4-BE49-F238E27FC236}">
                <a16:creationId xmlns:a16="http://schemas.microsoft.com/office/drawing/2014/main" id="{5B879262-049F-4414-A5FB-1ED94DD9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16-title-1">
            <a:extLst xmlns:a="http://schemas.openxmlformats.org/drawingml/2006/main">
              <a:ext uri="{FF2B5EF4-FFF2-40B4-BE49-F238E27FC236}">
                <a16:creationId xmlns:a16="http://schemas.microsoft.com/office/drawing/2014/main" id="{463D2555-A804-4A36-A4F3-5F410786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专业经验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16-body-1">
            <a:extLst xmlns:a="http://schemas.openxmlformats.org/drawingml/2006/main">
              <a:ext uri="{FF2B5EF4-FFF2-40B4-BE49-F238E27FC236}">
                <a16:creationId xmlns:a16="http://schemas.microsoft.com/office/drawing/2014/main" id="{7F2FFCDB-AF3A-44E2-804B-9E6FA185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业务、设计、数据平台研发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分别维护专业知识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16-station-2-circle">
            <a:extLst xmlns:a="http://schemas.openxmlformats.org/drawingml/2006/main">
              <a:ext uri="{FF2B5EF4-FFF2-40B4-BE49-F238E27FC236}">
                <a16:creationId xmlns:a16="http://schemas.microsoft.com/office/drawing/2014/main" id="{BC1DF1DA-B2FB-4091-BA9F-C6946809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A8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16-station-2-text">
            <a:extLst xmlns:a="http://schemas.openxmlformats.org/drawingml/2006/main">
              <a:ext uri="{FF2B5EF4-FFF2-40B4-BE49-F238E27FC236}">
                <a16:creationId xmlns:a16="http://schemas.microsoft.com/office/drawing/2014/main" id="{B2E98531-620F-4779-BE7A-7DE1FF81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16-title-2">
            <a:extLst xmlns:a="http://schemas.openxmlformats.org/drawingml/2006/main">
              <a:ext uri="{FF2B5EF4-FFF2-40B4-BE49-F238E27FC236}">
                <a16:creationId xmlns:a16="http://schemas.microsoft.com/office/drawing/2014/main" id="{005A41F8-8ACA-4B9B-9386-5627DDF1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标准资产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6-body-2">
            <a:extLst xmlns:a="http://schemas.openxmlformats.org/drawingml/2006/main">
              <a:ext uri="{FF2B5EF4-FFF2-40B4-BE49-F238E27FC236}">
                <a16:creationId xmlns:a16="http://schemas.microsoft.com/office/drawing/2014/main" id="{F1E3C1FC-E632-422C-98C2-CBA3FFA3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Report-skill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Design-skill、API / Tool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16-station-3-circle">
            <a:extLst xmlns:a="http://schemas.openxmlformats.org/drawingml/2006/main">
              <a:ext uri="{FF2B5EF4-FFF2-40B4-BE49-F238E27FC236}">
                <a16:creationId xmlns:a16="http://schemas.microsoft.com/office/drawing/2014/main" id="{E65F223A-85F4-4253-BA51-23AB82AA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A8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16-station-3-text">
            <a:extLst xmlns:a="http://schemas.openxmlformats.org/drawingml/2006/main">
              <a:ext uri="{FF2B5EF4-FFF2-40B4-BE49-F238E27FC236}">
                <a16:creationId xmlns:a16="http://schemas.microsoft.com/office/drawing/2014/main" id="{B5A59732-0662-41EE-A18A-9B05C2D0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6-title-3">
            <a:extLst xmlns:a="http://schemas.openxmlformats.org/drawingml/2006/main">
              <a:ext uri="{FF2B5EF4-FFF2-40B4-BE49-F238E27FC236}">
                <a16:creationId xmlns:a16="http://schemas.microsoft.com/office/drawing/2014/main" id="{C3EA7756-5C3C-4AAC-B272-EFD356E0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Agent 组合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16-body-3">
            <a:extLst xmlns:a="http://schemas.openxmlformats.org/drawingml/2006/main">
              <a:ext uri="{FF2B5EF4-FFF2-40B4-BE49-F238E27FC236}">
                <a16:creationId xmlns:a16="http://schemas.microsoft.com/office/drawing/2014/main" id="{281C94D7-B4F7-4A6E-944F-CD6D0EC5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按场景匹配模板和数据能力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执行生成、验证与运行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16-station-4-circle">
            <a:extLst xmlns:a="http://schemas.openxmlformats.org/drawingml/2006/main">
              <a:ext uri="{FF2B5EF4-FFF2-40B4-BE49-F238E27FC236}">
                <a16:creationId xmlns:a16="http://schemas.microsoft.com/office/drawing/2014/main" id="{CB83251E-0022-4AB6-8CB9-ECA4844D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A8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16-station-4-text">
            <a:extLst xmlns:a="http://schemas.openxmlformats.org/drawingml/2006/main">
              <a:ext uri="{FF2B5EF4-FFF2-40B4-BE49-F238E27FC236}">
                <a16:creationId xmlns:a16="http://schemas.microsoft.com/office/drawing/2014/main" id="{A3C5BEA9-F62A-4773-B590-3E5333F5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16-title-4">
            <a:extLst xmlns:a="http://schemas.openxmlformats.org/drawingml/2006/main">
              <a:ext uri="{FF2B5EF4-FFF2-40B4-BE49-F238E27FC236}">
                <a16:creationId xmlns:a16="http://schemas.microsoft.com/office/drawing/2014/main" id="{D4834C4E-A6E4-4A5F-9ACE-AFB03AF9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多场景复用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16-body-4">
            <a:extLst xmlns:a="http://schemas.openxmlformats.org/drawingml/2006/main">
              <a:ext uri="{FF2B5EF4-FFF2-40B4-BE49-F238E27FC236}">
                <a16:creationId xmlns:a16="http://schemas.microsoft.com/office/drawing/2014/main" id="{A05FD400-1A15-4EE2-BAE3-BC75ECFE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跨产品、部门和客户复用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  <a:def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新场景只补充差异部分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6-ownership">
            <a:extLst xmlns:a="http://schemas.openxmlformats.org/drawingml/2006/main">
              <a:ext uri="{FF2B5EF4-FFF2-40B4-BE49-F238E27FC236}">
                <a16:creationId xmlns:a16="http://schemas.microsoft.com/office/drawing/2014/main" id="{8EBFDCC2-9E6C-429C-9223-99947B4C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389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职责沉淀</a:t>
            </a:r>
            <a:endParaRPr sz="12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s16-owner-baseline">
            <a:extLst xmlns:a="http://schemas.openxmlformats.org/drawingml/2006/main">
              <a:ext uri="{FF2B5EF4-FFF2-40B4-BE49-F238E27FC236}">
                <a16:creationId xmlns:a16="http://schemas.microsoft.com/office/drawing/2014/main" id="{48611AEE-D95B-40BE-BB91-1B63D64B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85850" y="4977765"/>
            <a:ext cx="9629775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16-owner-dot-1">
            <a:extLst xmlns:a="http://schemas.openxmlformats.org/drawingml/2006/main">
              <a:ext uri="{FF2B5EF4-FFF2-40B4-BE49-F238E27FC236}">
                <a16:creationId xmlns:a16="http://schemas.microsoft.com/office/drawing/2014/main" id="{088508AF-DD35-467E-A055-21FB2745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16-owner-team-1">
            <a:extLst xmlns:a="http://schemas.openxmlformats.org/drawingml/2006/main">
              <a:ext uri="{FF2B5EF4-FFF2-40B4-BE49-F238E27FC236}">
                <a16:creationId xmlns:a16="http://schemas.microsoft.com/office/drawing/2014/main" id="{81A29CB2-6D1A-4137-B1A2-C5CE3BE4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业务团队</a:t>
            </a:r>
            <a:endParaRPr sz="135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16-owner-body-1">
            <a:extLst xmlns:a="http://schemas.openxmlformats.org/drawingml/2006/main">
              <a:ext uri="{FF2B5EF4-FFF2-40B4-BE49-F238E27FC236}">
                <a16:creationId xmlns:a16="http://schemas.microsoft.com/office/drawing/2014/main" id="{9E3E2CD1-03F4-465B-8C2D-4E35A8A1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分析方法与报告结构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s16-owner-dot-2">
            <a:extLst xmlns:a="http://schemas.openxmlformats.org/drawingml/2006/main">
              <a:ext uri="{FF2B5EF4-FFF2-40B4-BE49-F238E27FC236}">
                <a16:creationId xmlns:a16="http://schemas.microsoft.com/office/drawing/2014/main" id="{566901A2-D0A4-4111-9030-6AA2FFE1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16-owner-team-2">
            <a:extLst xmlns:a="http://schemas.openxmlformats.org/drawingml/2006/main">
              <a:ext uri="{FF2B5EF4-FFF2-40B4-BE49-F238E27FC236}">
                <a16:creationId xmlns:a16="http://schemas.microsoft.com/office/drawing/2014/main" id="{FC8FD15E-FA6F-4F42-B1EF-7E9EF530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rPr>
              <a:t>设计团队</a:t>
            </a:r>
            <a:endParaRPr sz="1350" b="1">
              <a:solidFill>
                <a:srgbClr val="57BDE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16-owner-body-2">
            <a:extLst xmlns:a="http://schemas.openxmlformats.org/drawingml/2006/main">
              <a:ext uri="{FF2B5EF4-FFF2-40B4-BE49-F238E27FC236}">
                <a16:creationId xmlns:a16="http://schemas.microsoft.com/office/drawing/2014/main" id="{150565B2-66EA-45BC-BE9D-34472370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设计语言与视觉规范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s16-owner-dot-3">
            <a:extLst xmlns:a="http://schemas.openxmlformats.org/drawingml/2006/main">
              <a:ext uri="{FF2B5EF4-FFF2-40B4-BE49-F238E27FC236}">
                <a16:creationId xmlns:a16="http://schemas.microsoft.com/office/drawing/2014/main" id="{3ECC10AD-AA31-4B64-B97E-B2519567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16-owner-team-3">
            <a:extLst xmlns:a="http://schemas.openxmlformats.org/drawingml/2006/main">
              <a:ext uri="{FF2B5EF4-FFF2-40B4-BE49-F238E27FC236}">
                <a16:creationId xmlns:a16="http://schemas.microsoft.com/office/drawing/2014/main" id="{B121D145-F4F6-4C77-B7A8-1E174A1D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数据团队</a:t>
            </a:r>
            <a:endParaRPr sz="135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16-owner-body-3">
            <a:extLst xmlns:a="http://schemas.openxmlformats.org/drawingml/2006/main">
              <a:ext uri="{FF2B5EF4-FFF2-40B4-BE49-F238E27FC236}">
                <a16:creationId xmlns:a16="http://schemas.microsoft.com/office/drawing/2014/main" id="{E61F4DBE-DF68-4FD5-A9B2-ED314B39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内部 API 与 Agent Tool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s16-owner-dot-4">
            <a:extLst xmlns:a="http://schemas.openxmlformats.org/drawingml/2006/main">
              <a:ext uri="{FF2B5EF4-FFF2-40B4-BE49-F238E27FC236}">
                <a16:creationId xmlns:a16="http://schemas.microsoft.com/office/drawing/2014/main" id="{9973DEA7-F898-4A2F-BD60-62A6AE84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16-owner-team-4">
            <a:extLst xmlns:a="http://schemas.openxmlformats.org/drawingml/2006/main">
              <a:ext uri="{FF2B5EF4-FFF2-40B4-BE49-F238E27FC236}">
                <a16:creationId xmlns:a16="http://schemas.microsoft.com/office/drawing/2014/main" id="{34C6C8A7-DC28-49EB-A562-64FF301D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平台研发</a:t>
            </a:r>
            <a:endParaRPr sz="135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s16-owner-body-4">
            <a:extLst xmlns:a="http://schemas.openxmlformats.org/drawingml/2006/main">
              <a:ext uri="{FF2B5EF4-FFF2-40B4-BE49-F238E27FC236}">
                <a16:creationId xmlns:a16="http://schemas.microsoft.com/office/drawing/2014/main" id="{7ADC4426-E8B0-405C-8FDC-B9F34A9D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Agent、校验与运行环境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62808829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1449D37F-9F79-4C51-8691-5D880B32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3DD7C93-66C3-46D9-9A66-C3667DDC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05 · 核心价值</a:t>
            </a:r>
            <a:endParaRPr sz="1350" b="1">
              <a:solidFill>
                <a:srgbClr val="5A7D9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480F913-6B8D-400E-9BE9-E4E060B7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面向用户与一线团队的个性化交付</a:t>
            </a:r>
            <a:endParaRPr sz="3600" b="1">
              <a:solidFill>
                <a:srgbClr val="14284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C15D63B-4BD7-4A29-9963-3DD15788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C890129-8F11-4C4F-9B82-9BE7ADB4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1050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94E2EB8-0993-470A-8FA7-293FBF15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16</a:t>
            </a:r>
            <a:endParaRPr sz="1125" b="0">
              <a:solidFill>
                <a:srgbClr val="8A9AA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s6-left-track-a">
            <a:extLst xmlns:a="http://schemas.openxmlformats.org/drawingml/2006/main">
              <a:ext uri="{FF2B5EF4-FFF2-40B4-BE49-F238E27FC236}">
                <a16:creationId xmlns:a16="http://schemas.microsoft.com/office/drawing/2014/main" id="{AF4E73A6-767F-47A0-AE1B-3BF42FD4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1555115" y="3089275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FA5"/>
            </a:solidFill>
            <a:prstDash val="solid"/>
          </a:ln>
        </p:spPr>
      </p:sp>
      <p:sp>
        <p:nvSpPr>
          <p:cNvPr id="21" name="s6-left-track-b">
            <a:extLst xmlns:a="http://schemas.openxmlformats.org/drawingml/2006/main">
              <a:ext uri="{FF2B5EF4-FFF2-40B4-BE49-F238E27FC236}">
                <a16:creationId xmlns:a16="http://schemas.microsoft.com/office/drawing/2014/main" id="{21C721A0-CCDE-47AC-AB95-CB1F162A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1555115" y="3213100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C9EE"/>
            </a:solidFill>
            <a:prstDash val="solid"/>
          </a:ln>
        </p:spPr>
      </p:sp>
      <p:sp>
        <p:nvSpPr>
          <p:cNvPr id="22" name="s6-right-track-a">
            <a:extLst xmlns:a="http://schemas.openxmlformats.org/drawingml/2006/main">
              <a:ext uri="{FF2B5EF4-FFF2-40B4-BE49-F238E27FC236}">
                <a16:creationId xmlns:a16="http://schemas.microsoft.com/office/drawing/2014/main" id="{2D757BB9-6B74-4A60-BCCC-C1F46CCE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6970395" y="3085465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D9187"/>
            </a:solidFill>
            <a:prstDash val="solid"/>
          </a:ln>
        </p:spPr>
      </p:sp>
      <p:sp>
        <p:nvSpPr>
          <p:cNvPr id="23" name="s6-right-track-b">
            <a:extLst xmlns:a="http://schemas.openxmlformats.org/drawingml/2006/main">
              <a:ext uri="{FF2B5EF4-FFF2-40B4-BE49-F238E27FC236}">
                <a16:creationId xmlns:a16="http://schemas.microsoft.com/office/drawing/2014/main" id="{5DB1B122-CF34-4F99-B9B5-1CDC6FA9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40000">
            <a:off x="6970395" y="3209290"/>
            <a:ext cx="314325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8DDA8"/>
            </a:solidFill>
            <a:prstDash val="solid"/>
          </a:ln>
        </p:spPr>
      </p:sp>
      <p:sp>
        <p:nvSpPr>
          <p:cNvPr id="24" name="s6-left-kicker">
            <a:extLst xmlns:a="http://schemas.openxmlformats.org/drawingml/2006/main">
              <a:ext uri="{FF2B5EF4-FFF2-40B4-BE49-F238E27FC236}">
                <a16:creationId xmlns:a16="http://schemas.microsoft.com/office/drawing/2014/main" id="{6A9C4055-9944-4B4F-A6B2-FD9DA3AD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790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用户价值</a:t>
            </a:r>
            <a:endParaRPr sz="13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s6-left-title">
            <a:extLst xmlns:a="http://schemas.openxmlformats.org/drawingml/2006/main">
              <a:ext uri="{FF2B5EF4-FFF2-40B4-BE49-F238E27FC236}">
                <a16:creationId xmlns:a16="http://schemas.microsoft.com/office/drawing/2014/main" id="{2D5296B0-0BF3-47B6-9C13-B221DA7A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9270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千人千面</a:t>
            </a:r>
            <a:endParaRPr sz="2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s6-left-body">
            <a:extLst xmlns:a="http://schemas.openxmlformats.org/drawingml/2006/main">
              <a:ext uri="{FF2B5EF4-FFF2-40B4-BE49-F238E27FC236}">
                <a16:creationId xmlns:a16="http://schemas.microsoft.com/office/drawing/2014/main" id="{47E45995-987E-4B45-BDB8-DD27D773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95700"/>
            <a:ext cx="4095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用户可按角色和场景灵活调整</a:t>
            </a:r>
            <a:endParaRPr sz="16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报告章节、指标范围与表达方式</a:t>
            </a:r>
            <a:endParaRPr sz="16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同一模板输出不同侧重点</a:t>
            </a:r>
            <a:endParaRPr sz="16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s6-right-kicker">
            <a:extLst xmlns:a="http://schemas.openxmlformats.org/drawingml/2006/main">
              <a:ext uri="{FF2B5EF4-FFF2-40B4-BE49-F238E27FC236}">
                <a16:creationId xmlns:a16="http://schemas.microsoft.com/office/drawing/2014/main" id="{0658F7E9-88AE-4AB0-9EA1-5A26149D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165" y="221361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一线价值</a:t>
            </a:r>
            <a:endParaRPr sz="130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s6-right-title">
            <a:extLst xmlns:a="http://schemas.openxmlformats.org/drawingml/2006/main">
              <a:ext uri="{FF2B5EF4-FFF2-40B4-BE49-F238E27FC236}">
                <a16:creationId xmlns:a16="http://schemas.microsoft.com/office/drawing/2014/main" id="{2ABE3C41-46DD-4A0C-8F64-83370CA0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165" y="251841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客户专属</a:t>
            </a:r>
            <a:endParaRPr sz="29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s6-right-body">
            <a:extLst xmlns:a="http://schemas.openxmlformats.org/drawingml/2006/main">
              <a:ext uri="{FF2B5EF4-FFF2-40B4-BE49-F238E27FC236}">
                <a16:creationId xmlns:a16="http://schemas.microsoft.com/office/drawing/2014/main" id="{F86C4F11-3891-4E4E-8247-5585583A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197" y="3695700"/>
            <a:ext cx="3965543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ClrTx/>
              <a:buSzTx/>
              <a:buFontTx/>
              <a:buNone/>
              <a:def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产品与销售无需从零编写</a:t>
            </a:r>
            <a:endParaRPr sz="1600"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5000"/>
              </a:lnSpc>
              <a:buClrTx/>
              <a:buSzTx/>
              <a:buFontTx/>
              <a:buNone/>
              <a:def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基于模板融合公司独有数据</a:t>
            </a:r>
            <a:endParaRPr sz="1600"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25000"/>
              </a:lnSpc>
              <a:buClrTx/>
              <a:buSzTx/>
              <a:buFontTx/>
              <a:buNone/>
              <a:def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报告类型随模板持续扩展</a:t>
            </a:r>
            <a:endParaRPr sz="1600"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6-common">
            <a:extLst xmlns:a="http://schemas.openxmlformats.org/drawingml/2006/main">
              <a:ext uri="{FF2B5EF4-FFF2-40B4-BE49-F238E27FC236}">
                <a16:creationId xmlns:a16="http://schemas.microsoft.com/office/drawing/2014/main" id="{7B9F936F-62EF-42C7-9DD4-11024118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6257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模板约束专业边界，Agent 提升个性化报告的生成效率。</a:t>
            </a:r>
            <a:endParaRPr sz="16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51679743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1F33EAB5-D4AB-401A-AA40-EFAFFCEE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2C14EA8-1FC8-4DB0-8216-2DE9F1C8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05 · 核心价值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45507CB-2050-43D5-9CB7-451480BA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HTML 让交互能力随报告一起流转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7ECA579E-22D3-4DE3-B59A-DDA9D827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7E273C2-0D60-4F7B-8CF3-59121DD1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8FA27EB-D2CD-4323-AE8F-C8CCCBC7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17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s16-track">
            <a:extLst xmlns:a="http://schemas.openxmlformats.org/drawingml/2006/main">
              <a:ext uri="{FF2B5EF4-FFF2-40B4-BE49-F238E27FC236}">
                <a16:creationId xmlns:a16="http://schemas.microsoft.com/office/drawing/2014/main" id="{9F483325-FCDA-432E-842F-50843F8F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1937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D3DF"/>
            </a:solidFill>
            <a:prstDash val="solid"/>
          </a:ln>
        </p:spPr>
      </p:sp>
      <p:sp>
        <p:nvSpPr>
          <p:cNvPr id="30" name="s16-station-1-circle">
            <a:extLst xmlns:a="http://schemas.openxmlformats.org/drawingml/2006/main">
              <a:ext uri="{FF2B5EF4-FFF2-40B4-BE49-F238E27FC236}">
                <a16:creationId xmlns:a16="http://schemas.microsoft.com/office/drawing/2014/main" id="{D39EF434-EB00-4B8E-893C-6EEFA3E9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A8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16-station-1-text">
            <a:extLst xmlns:a="http://schemas.openxmlformats.org/drawingml/2006/main">
              <a:ext uri="{FF2B5EF4-FFF2-40B4-BE49-F238E27FC236}">
                <a16:creationId xmlns:a16="http://schemas.microsoft.com/office/drawing/2014/main" id="{5B879262-049F-4414-A5FB-1ED94DD9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s16-title-1">
            <a:extLst xmlns:a="http://schemas.openxmlformats.org/drawingml/2006/main">
              <a:ext uri="{FF2B5EF4-FFF2-40B4-BE49-F238E27FC236}">
                <a16:creationId xmlns:a16="http://schemas.microsoft.com/office/drawing/2014/main" id="{463D2555-A804-4A36-A4F3-5F410786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rPr>
              <a:t>打开业务页面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16-body-1">
            <a:extLst xmlns:a="http://schemas.openxmlformats.org/drawingml/2006/main">
              <a:ext uri="{FF2B5EF4-FFF2-40B4-BE49-F238E27FC236}">
                <a16:creationId xmlns:a16="http://schemas.microsoft.com/office/drawing/2014/main" id="{7F2FFCDB-AF3A-44E2-804B-9E6FA185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rPr>
              <a:t>用户进入指定页面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s16-station-2-circle">
            <a:extLst xmlns:a="http://schemas.openxmlformats.org/drawingml/2006/main">
              <a:ext uri="{FF2B5EF4-FFF2-40B4-BE49-F238E27FC236}">
                <a16:creationId xmlns:a16="http://schemas.microsoft.com/office/drawing/2014/main" id="{BC1DF1DA-B2FB-4091-BA9F-C6946809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A8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16-station-2-text">
            <a:extLst xmlns:a="http://schemas.openxmlformats.org/drawingml/2006/main">
              <a:ext uri="{FF2B5EF4-FFF2-40B4-BE49-F238E27FC236}">
                <a16:creationId xmlns:a16="http://schemas.microsoft.com/office/drawing/2014/main" id="{B2E98531-620F-4779-BE7A-7DE1FF81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16-title-2">
            <a:extLst xmlns:a="http://schemas.openxmlformats.org/drawingml/2006/main">
              <a:ext uri="{FF2B5EF4-FFF2-40B4-BE49-F238E27FC236}">
                <a16:creationId xmlns:a16="http://schemas.microsoft.com/office/drawing/2014/main" id="{005A41F8-8ACA-4B9B-9386-5627DDF1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rPr>
              <a:t>交互能力生效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6-body-2">
            <a:extLst xmlns:a="http://schemas.openxmlformats.org/drawingml/2006/main">
              <a:ext uri="{FF2B5EF4-FFF2-40B4-BE49-F238E27FC236}">
                <a16:creationId xmlns:a16="http://schemas.microsoft.com/office/drawing/2014/main" id="{F1E3C1FC-E632-422C-98C2-CBA3FFA3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rPr>
              <a:t>组件在当前会话中运行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16-station-3-circle">
            <a:extLst xmlns:a="http://schemas.openxmlformats.org/drawingml/2006/main">
              <a:ext uri="{FF2B5EF4-FFF2-40B4-BE49-F238E27FC236}">
                <a16:creationId xmlns:a16="http://schemas.microsoft.com/office/drawing/2014/main" id="{E65F223A-85F4-4253-BA51-23AB82AA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A8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16-station-3-text">
            <a:extLst xmlns:a="http://schemas.openxmlformats.org/drawingml/2006/main">
              <a:ext uri="{FF2B5EF4-FFF2-40B4-BE49-F238E27FC236}">
                <a16:creationId xmlns:a16="http://schemas.microsoft.com/office/drawing/2014/main" id="{B5A59732-0662-41EE-A18A-9B05C2D0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6-title-3">
            <a:extLst xmlns:a="http://schemas.openxmlformats.org/drawingml/2006/main">
              <a:ext uri="{FF2B5EF4-FFF2-40B4-BE49-F238E27FC236}">
                <a16:creationId xmlns:a16="http://schemas.microsoft.com/office/drawing/2014/main" id="{C3EA7756-5C3C-4AAC-B272-EFD356E0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rPr>
              <a:t>用户离开页面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16-body-3">
            <a:extLst xmlns:a="http://schemas.openxmlformats.org/drawingml/2006/main">
              <a:ext uri="{FF2B5EF4-FFF2-40B4-BE49-F238E27FC236}">
                <a16:creationId xmlns:a16="http://schemas.microsoft.com/office/drawing/2014/main" id="{281C94D7-B4F7-4A6E-944F-CD6D0EC5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rPr>
              <a:t>页面访问会话结束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16-station-4-circle">
            <a:extLst xmlns:a="http://schemas.openxmlformats.org/drawingml/2006/main">
              <a:ext uri="{FF2B5EF4-FFF2-40B4-BE49-F238E27FC236}">
                <a16:creationId xmlns:a16="http://schemas.microsoft.com/office/drawing/2014/main" id="{CB83251E-0022-4AB6-8CB9-ECA4844D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A8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16-station-4-text">
            <a:extLst xmlns:a="http://schemas.openxmlformats.org/drawingml/2006/main">
              <a:ext uri="{FF2B5EF4-FFF2-40B4-BE49-F238E27FC236}">
                <a16:creationId xmlns:a16="http://schemas.microsoft.com/office/drawing/2014/main" id="{A3C5BEA9-F62A-4773-B590-3E5333F5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33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  <a:endParaRPr sz="17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16-title-4">
            <a:extLst xmlns:a="http://schemas.openxmlformats.org/drawingml/2006/main">
              <a:ext uri="{FF2B5EF4-FFF2-40B4-BE49-F238E27FC236}">
                <a16:creationId xmlns:a16="http://schemas.microsoft.com/office/drawing/2014/main" id="{D4834C4E-A6E4-4A5F-9ACE-AFB03AF9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57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53687D"/>
                </a:solidFill>
                <a:latin typeface="Hiragino Sans GB"/>
                <a:ea typeface="Hiragino Sans GB"/>
                <a:cs typeface="Hiragino Sans GB"/>
              </a:rPr>
              <a:t>本次触达结束</a:t>
            </a:r>
            <a:endParaRPr sz="170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16-body-4">
            <a:extLst xmlns:a="http://schemas.openxmlformats.org/drawingml/2006/main">
              <a:ext uri="{FF2B5EF4-FFF2-40B4-BE49-F238E27FC236}">
                <a16:creationId xmlns:a16="http://schemas.microsoft.com/office/drawing/2014/main" id="{A05FD400-1A15-4EE2-BAE3-BC75ECFE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861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rPr>
              <a:t>能力停留在单次访问</a:t>
            </a:r>
            <a:endParaRPr sz="11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6-ownership">
            <a:extLst xmlns:a="http://schemas.openxmlformats.org/drawingml/2006/main">
              <a:ext uri="{FF2B5EF4-FFF2-40B4-BE49-F238E27FC236}">
                <a16:creationId xmlns:a16="http://schemas.microsoft.com/office/drawing/2014/main" id="{8EBFDCC2-9E6C-429C-9223-99947B4C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389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报告生命周期</a:t>
            </a:r>
            <a:endParaRPr sz="120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s16-owner-baseline">
            <a:extLst xmlns:a="http://schemas.openxmlformats.org/drawingml/2006/main">
              <a:ext uri="{FF2B5EF4-FFF2-40B4-BE49-F238E27FC236}">
                <a16:creationId xmlns:a16="http://schemas.microsoft.com/office/drawing/2014/main" id="{48611AEE-D95B-40BE-BB91-1B63D64B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85850" y="4977765"/>
            <a:ext cx="9629775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16-owner-dot-1">
            <a:extLst xmlns:a="http://schemas.openxmlformats.org/drawingml/2006/main">
              <a:ext uri="{FF2B5EF4-FFF2-40B4-BE49-F238E27FC236}">
                <a16:creationId xmlns:a16="http://schemas.microsoft.com/office/drawing/2014/main" id="{088508AF-DD35-467E-A055-21FB2745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16-owner-team-1">
            <a:extLst xmlns:a="http://schemas.openxmlformats.org/drawingml/2006/main">
              <a:ext uri="{FF2B5EF4-FFF2-40B4-BE49-F238E27FC236}">
                <a16:creationId xmlns:a16="http://schemas.microsoft.com/office/drawing/2014/main" id="{81A29CB2-6D1A-4137-B1A2-C5CE3BE4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报告生成</a:t>
            </a:r>
            <a:endParaRPr sz="1350" b="1">
              <a:solidFill>
                <a:srgbClr val="2F6FA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16-owner-body-1">
            <a:extLst xmlns:a="http://schemas.openxmlformats.org/drawingml/2006/main">
              <a:ext uri="{FF2B5EF4-FFF2-40B4-BE49-F238E27FC236}">
                <a16:creationId xmlns:a16="http://schemas.microsoft.com/office/drawing/2014/main" id="{9E3E2CD1-03F4-465B-8C2D-4E35A8A1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Agent 组合模板与组件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s16-owner-dot-2">
            <a:extLst xmlns:a="http://schemas.openxmlformats.org/drawingml/2006/main">
              <a:ext uri="{FF2B5EF4-FFF2-40B4-BE49-F238E27FC236}">
                <a16:creationId xmlns:a16="http://schemas.microsoft.com/office/drawing/2014/main" id="{566901A2-D0A4-4111-9030-6AA2FFE1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16-owner-team-2">
            <a:extLst xmlns:a="http://schemas.openxmlformats.org/drawingml/2006/main">
              <a:ext uri="{FF2B5EF4-FFF2-40B4-BE49-F238E27FC236}">
                <a16:creationId xmlns:a16="http://schemas.microsoft.com/office/drawing/2014/main" id="{FC8FD15E-FA6F-4F42-B1EF-7E9EF530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7BDE4"/>
                </a:solidFill>
                <a:latin typeface="Hiragino Sans GB"/>
                <a:ea typeface="Hiragino Sans GB"/>
                <a:cs typeface="Hiragino Sans GB"/>
              </a:rPr>
              <a:t>随报告保存</a:t>
            </a:r>
            <a:endParaRPr sz="1350" b="1">
              <a:solidFill>
                <a:srgbClr val="57BDE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16-owner-body-2">
            <a:extLst xmlns:a="http://schemas.openxmlformats.org/drawingml/2006/main">
              <a:ext uri="{FF2B5EF4-FFF2-40B4-BE49-F238E27FC236}">
                <a16:creationId xmlns:a16="http://schemas.microsoft.com/office/drawing/2014/main" id="{150565B2-66EA-45BC-BE9D-34472370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交互能力随载体保留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s16-owner-dot-3">
            <a:extLst xmlns:a="http://schemas.openxmlformats.org/drawingml/2006/main">
              <a:ext uri="{FF2B5EF4-FFF2-40B4-BE49-F238E27FC236}">
                <a16:creationId xmlns:a16="http://schemas.microsoft.com/office/drawing/2014/main" id="{3ECC10AD-AA31-4B64-B97E-B2519567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16-owner-team-3">
            <a:extLst xmlns:a="http://schemas.openxmlformats.org/drawingml/2006/main">
              <a:ext uri="{FF2B5EF4-FFF2-40B4-BE49-F238E27FC236}">
                <a16:creationId xmlns:a16="http://schemas.microsoft.com/office/drawing/2014/main" id="{B121D145-F4F6-4C77-B7A8-1E174A1D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4D9187"/>
                </a:solidFill>
                <a:latin typeface="Hiragino Sans GB"/>
                <a:ea typeface="Hiragino Sans GB"/>
                <a:cs typeface="Hiragino Sans GB"/>
              </a:rPr>
              <a:t>随分享传播</a:t>
            </a:r>
            <a:endParaRPr sz="1350" b="1">
              <a:solidFill>
                <a:srgbClr val="4D918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s16-owner-body-3">
            <a:extLst xmlns:a="http://schemas.openxmlformats.org/drawingml/2006/main">
              <a:ext uri="{FF2B5EF4-FFF2-40B4-BE49-F238E27FC236}">
                <a16:creationId xmlns:a16="http://schemas.microsoft.com/office/drawing/2014/main" id="{E61F4DBE-DF68-4FD5-A9B2-ED314B39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报告在组织内外流转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s16-owner-dot-4">
            <a:extLst xmlns:a="http://schemas.openxmlformats.org/drawingml/2006/main">
              <a:ext uri="{FF2B5EF4-FFF2-40B4-BE49-F238E27FC236}">
                <a16:creationId xmlns:a16="http://schemas.microsoft.com/office/drawing/2014/main" id="{9973DEA7-F898-4A2F-BD60-62A6AE84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0728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16-owner-team-4">
            <a:extLst xmlns:a="http://schemas.openxmlformats.org/drawingml/2006/main">
              <a:ext uri="{FF2B5EF4-FFF2-40B4-BE49-F238E27FC236}">
                <a16:creationId xmlns:a16="http://schemas.microsoft.com/office/drawing/2014/main" id="{34C6C8A7-DC28-49EB-A562-64FF301D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9684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持续触达</a:t>
            </a:r>
            <a:endParaRPr sz="135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s16-owner-body-4">
            <a:extLst xmlns:a="http://schemas.openxmlformats.org/drawingml/2006/main">
              <a:ext uri="{FF2B5EF4-FFF2-40B4-BE49-F238E27FC236}">
                <a16:creationId xmlns:a16="http://schemas.microsoft.com/office/drawing/2014/main" id="{7ADC4426-E8B0-405C-8FDC-B9F34A9D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069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再次访问仍可连接产品服务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value-traditional-cycle-label">
            <a:extLst xmlns:a="http://schemas.openxmlformats.org/drawingml/2006/main">
              <a:ext uri="{FF2B5EF4-FFF2-40B4-BE49-F238E27FC236}">
                <a16:creationId xmlns:a16="http://schemas.microsoft.com/office/drawing/2014/main" id="{5B63074D-D7DE-4E4C-8082-186B3A71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90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7A8DA1"/>
                </a:solidFill>
                <a:latin typeface="Hiragino Sans GB"/>
                <a:ea typeface="Hiragino Sans GB"/>
                <a:cs typeface="Hiragino Sans GB"/>
              </a:rPr>
              <a:t>页面访问周期</a:t>
            </a:r>
          </a:p>
        </p:txBody>
      </p:sp>
      <p:sp>
        <p:nvSpPr>
          <p:cNvPr id="61" name="value-safety-boundary-note">
            <a:extLst xmlns:a="http://schemas.openxmlformats.org/drawingml/2006/main">
              <a:ext uri="{FF2B5EF4-FFF2-40B4-BE49-F238E27FC236}">
                <a16:creationId xmlns:a16="http://schemas.microsoft.com/office/drawing/2014/main" id="{BD8A0CCE-4FEE-4609-80BE-567DF1EC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626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仅调用经过审核的组件，并继续遵循既有的数据权限与服务边界。</a:t>
            </a:r>
          </a:p>
        </p:txBody>
      </p:sp>
    </p:spTree>
    <p:extLst>
      <p:ext uri="{BB962C8B-B14F-4D97-AF65-F5344CB8AC3E}">
        <p14:creationId xmlns:p14="http://schemas.microsoft.com/office/powerpoint/2010/main" val="62808829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73BCE4D4-F4C9-4DA0-AC3E-A1284FA7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4B0CF76-0833-47CC-8DF8-C8EB8488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2F6FA5"/>
                </a:solidFill>
                <a:latin typeface="Hiragino Sans GB"/>
                <a:ea typeface="Hiragino Sans GB"/>
                <a:cs typeface="Hiragino Sans GB"/>
              </a:rPr>
              <a:t>06 · 建设路线</a:t>
            </a:r>
            <a:endParaRPr sz="1050" b="1">
              <a:solidFill>
                <a:srgbClr val="5C86A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FC64C1A-2B7D-41F6-BB37-A4705BA6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从可行性验证走向组合式报告平台</a:t>
            </a:r>
            <a:endParaRPr sz="28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ABCADF3E-98E2-4E52-9A53-BE28714A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6E2EC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F720B1A-611F-4D0B-B980-A81F0F40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5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PROMPT 即模板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271EB2D-45B4-420D-A830-ACE22916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CA0B6"/>
                </a:solidFill>
                <a:latin typeface="Hiragino Sans GB"/>
                <a:ea typeface="Hiragino Sans GB"/>
                <a:cs typeface="Hiragino Sans GB"/>
              </a:rPr>
              <a:t>18</a:t>
            </a:r>
            <a:endParaRPr sz="750" b="0">
              <a:solidFill>
                <a:srgbClr val="8CA0B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s17-road">
            <a:extLst xmlns:a="http://schemas.openxmlformats.org/drawingml/2006/main">
              <a:ext uri="{FF2B5EF4-FFF2-40B4-BE49-F238E27FC236}">
                <a16:creationId xmlns:a16="http://schemas.microsoft.com/office/drawing/2014/main" id="{43DD942A-8765-45F0-B996-4671AB2A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350" y="3530600"/>
            <a:ext cx="9271000" cy="6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C9EE"/>
            </a:solidFill>
            <a:prstDash val="solid"/>
          </a:ln>
        </p:spPr>
      </p:sp>
      <p:sp>
        <p:nvSpPr>
          <p:cNvPr id="34" name="s17-node-1">
            <a:extLst xmlns:a="http://schemas.openxmlformats.org/drawingml/2006/main">
              <a:ext uri="{FF2B5EF4-FFF2-40B4-BE49-F238E27FC236}">
                <a16:creationId xmlns:a16="http://schemas.microsoft.com/office/drawing/2014/main" id="{9A24E8A4-EA15-46B9-B6CE-E4070C73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00" y="32353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17-label-1">
            <a:extLst xmlns:a="http://schemas.openxmlformats.org/drawingml/2006/main">
              <a:ext uri="{FF2B5EF4-FFF2-40B4-BE49-F238E27FC236}">
                <a16:creationId xmlns:a16="http://schemas.microsoft.com/office/drawing/2014/main" id="{8DF0B7B5-C0D3-48CC-AA1F-F771E08D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00" y="32353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已完成</a:t>
            </a:r>
            <a:endParaRPr sz="10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s17-title-1">
            <a:extLst xmlns:a="http://schemas.openxmlformats.org/drawingml/2006/main">
              <a:ext uri="{FF2B5EF4-FFF2-40B4-BE49-F238E27FC236}">
                <a16:creationId xmlns:a16="http://schemas.microsoft.com/office/drawing/2014/main" id="{7C831581-A7F8-49C3-A151-9CF30176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35" y="41592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报告生成验证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s17-body-1">
            <a:extLst xmlns:a="http://schemas.openxmlformats.org/drawingml/2006/main">
              <a:ext uri="{FF2B5EF4-FFF2-40B4-BE49-F238E27FC236}">
                <a16:creationId xmlns:a16="http://schemas.microsoft.com/office/drawing/2014/main" id="{A65BB40D-6C28-4AA8-AEDD-9DD92DD2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35" y="46355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招商智能体 POC</a:t>
            </a:r>
            <a:endParaRPr sz="11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12000"/>
              </a:lnSpc>
              <a:buNone/>
              <a:def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模板驱动完整报告</a:t>
            </a:r>
            <a:endParaRPr sz="11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s17-node-2">
            <a:extLst xmlns:a="http://schemas.openxmlformats.org/drawingml/2006/main">
              <a:ext uri="{FF2B5EF4-FFF2-40B4-BE49-F238E27FC236}">
                <a16:creationId xmlns:a16="http://schemas.microsoft.com/office/drawing/2014/main" id="{22EE1A1C-2F45-4F15-B95E-2205F817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075" y="32353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17-label-2">
            <a:extLst xmlns:a="http://schemas.openxmlformats.org/drawingml/2006/main">
              <a:ext uri="{FF2B5EF4-FFF2-40B4-BE49-F238E27FC236}">
                <a16:creationId xmlns:a16="http://schemas.microsoft.com/office/drawing/2014/main" id="{6D095B32-3FF7-4DA1-8343-83DA3019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075" y="32353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已完成</a:t>
            </a:r>
            <a:endParaRPr sz="10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s17-title-2">
            <a:extLst xmlns:a="http://schemas.openxmlformats.org/drawingml/2006/main">
              <a:ext uri="{FF2B5EF4-FFF2-40B4-BE49-F238E27FC236}">
                <a16:creationId xmlns:a16="http://schemas.microsoft.com/office/drawing/2014/main" id="{6669DA13-2EB5-43D3-85B1-C3FD7881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550" y="20288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模板生成验证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s17-body-2">
            <a:extLst xmlns:a="http://schemas.openxmlformats.org/drawingml/2006/main">
              <a:ext uri="{FF2B5EF4-FFF2-40B4-BE49-F238E27FC236}">
                <a16:creationId xmlns:a16="http://schemas.microsoft.com/office/drawing/2014/main" id="{4E0D4C2A-0908-423B-BCDE-7647DE06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550" y="2505075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Report-skill 管理</a:t>
            </a:r>
            <a:endParaRPr sz="11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12000"/>
              </a:lnSpc>
              <a:buNone/>
              <a:def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模板 Agent</a:t>
            </a:r>
            <a:endParaRPr sz="110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s17-node-3">
            <a:extLst xmlns:a="http://schemas.openxmlformats.org/drawingml/2006/main">
              <a:ext uri="{FF2B5EF4-FFF2-40B4-BE49-F238E27FC236}">
                <a16:creationId xmlns:a16="http://schemas.microsoft.com/office/drawing/2014/main" id="{41C6F0E9-2EE6-483A-B030-2E6E222A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25" y="31686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17-label-3">
            <a:extLst xmlns:a="http://schemas.openxmlformats.org/drawingml/2006/main">
              <a:ext uri="{FF2B5EF4-FFF2-40B4-BE49-F238E27FC236}">
                <a16:creationId xmlns:a16="http://schemas.microsoft.com/office/drawing/2014/main" id="{39D23507-6715-4B33-B5BA-749C504B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25" y="31686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P1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s17-title-3">
            <a:extLst xmlns:a="http://schemas.openxmlformats.org/drawingml/2006/main">
              <a:ext uri="{FF2B5EF4-FFF2-40B4-BE49-F238E27FC236}">
                <a16:creationId xmlns:a16="http://schemas.microsoft.com/office/drawing/2014/main" id="{0F77BCE2-F8D9-423E-8EDF-4490524E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245" y="4159250"/>
            <a:ext cx="234759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78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Design-skill 标准与提取闭环</a:t>
            </a:r>
            <a:endParaRPr sz="14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s17-body-3">
            <a:extLst xmlns:a="http://schemas.openxmlformats.org/drawingml/2006/main">
              <a:ext uri="{FF2B5EF4-FFF2-40B4-BE49-F238E27FC236}">
                <a16:creationId xmlns:a16="http://schemas.microsoft.com/office/drawing/2014/main" id="{9931D44D-ED04-4629-B0A7-22B150D3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845" y="4635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定义结构和 Token 规范，完成来源准入、人工审核与试生成验证。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s17-node-4">
            <a:extLst xmlns:a="http://schemas.openxmlformats.org/drawingml/2006/main">
              <a:ext uri="{FF2B5EF4-FFF2-40B4-BE49-F238E27FC236}">
                <a16:creationId xmlns:a16="http://schemas.microsoft.com/office/drawing/2014/main" id="{BC8356AD-B36C-4C11-AA51-BE6244E0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2162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17-label-4">
            <a:extLst xmlns:a="http://schemas.openxmlformats.org/drawingml/2006/main">
              <a:ext uri="{FF2B5EF4-FFF2-40B4-BE49-F238E27FC236}">
                <a16:creationId xmlns:a16="http://schemas.microsoft.com/office/drawing/2014/main" id="{08742B19-3018-4A31-9C80-DE0E052D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216275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P2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8" name="s17-title-4">
            <a:extLst xmlns:a="http://schemas.openxmlformats.org/drawingml/2006/main">
              <a:ext uri="{FF2B5EF4-FFF2-40B4-BE49-F238E27FC236}">
                <a16:creationId xmlns:a16="http://schemas.microsoft.com/office/drawing/2014/main" id="{77AEC659-49F7-4F8D-AB13-93F86369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7425" y="1927225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数据工具与质量安全边界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s17-body-4">
            <a:extLst xmlns:a="http://schemas.openxmlformats.org/drawingml/2006/main">
              <a:ext uri="{FF2B5EF4-FFF2-40B4-BE49-F238E27FC236}">
                <a16:creationId xmlns:a16="http://schemas.microsoft.com/office/drawing/2014/main" id="{F0958D3B-65E5-4AF9-93D9-80D9ACC9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7425" y="2403475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统一业务语义与 API / Tool 映射，补齐数据审计、HTML 安全和生成质量评测。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s17-node-5">
            <a:extLst xmlns:a="http://schemas.openxmlformats.org/drawingml/2006/main">
              <a:ext uri="{FF2B5EF4-FFF2-40B4-BE49-F238E27FC236}">
                <a16:creationId xmlns:a16="http://schemas.microsoft.com/office/drawing/2014/main" id="{BCCBC4F4-0440-4F52-8F3D-4DB92453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0" y="3254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BD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17-label-5">
            <a:extLst xmlns:a="http://schemas.openxmlformats.org/drawingml/2006/main">
              <a:ext uri="{FF2B5EF4-FFF2-40B4-BE49-F238E27FC236}">
                <a16:creationId xmlns:a16="http://schemas.microsoft.com/office/drawing/2014/main" id="{0CBB7108-A02C-4C21-975F-5939C7FB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0" y="32543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P3</a:t>
            </a:r>
            <a:endParaRPr sz="14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s17-title-5">
            <a:extLst xmlns:a="http://schemas.openxmlformats.org/drawingml/2006/main">
              <a:ext uri="{FF2B5EF4-FFF2-40B4-BE49-F238E27FC236}">
                <a16:creationId xmlns:a16="http://schemas.microsoft.com/office/drawing/2014/main" id="{72381E1F-28E2-4C54-A940-CB3424B4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315" y="41592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高频场景试点与治理扩展</a:t>
            </a:r>
            <a:endParaRPr sz="13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s17-body-5">
            <a:extLst xmlns:a="http://schemas.openxmlformats.org/drawingml/2006/main">
              <a:ext uri="{FF2B5EF4-FFF2-40B4-BE49-F238E27FC236}">
                <a16:creationId xmlns:a16="http://schemas.microsoft.com/office/drawing/2014/main" id="{A94FEAF5-FB1C-4CF8-BF98-A32C441A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315" y="4635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1748C"/>
                </a:solidFill>
                <a:latin typeface="Hiragino Sans GB"/>
                <a:ea typeface="Hiragino Sans GB"/>
                <a:cs typeface="Hiragino Sans GB"/>
              </a:rPr>
              <a:t>选择一至两个口径清晰的场景，完善权限和审核，建立发布回滚机制与质量基准。</a:t>
            </a:r>
            <a:endParaRPr sz="1050" b="0">
              <a:solidFill>
                <a:srgbClr val="61748C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s17-next-stage">
            <a:extLst xmlns:a="http://schemas.openxmlformats.org/drawingml/2006/main">
              <a:ext uri="{FF2B5EF4-FFF2-40B4-BE49-F238E27FC236}">
                <a16:creationId xmlns:a16="http://schemas.microsoft.com/office/drawing/2014/main" id="{44B77A55-75CF-4693-B0A9-6D4A8286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275" y="3892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50" b="1">
                <a:solidFill>
                  <a:srgbClr val="1957C8"/>
                </a:solidFill>
                <a:latin typeface="Hiragino Sans GB"/>
                <a:ea typeface="Hiragino Sans GB"/>
                <a:cs typeface="Hiragino Sans GB"/>
              </a:rPr>
              <a:t>下一阶段</a:t>
            </a:r>
            <a:endParaRPr sz="1150" b="1">
              <a:solidFill>
                <a:srgbClr val="1957C8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03861067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acc19b2a24f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6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7351d282d47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360" y="495300"/>
            <a:ext cx="1055130" cy="55245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44D833E-EE27-4115-9698-AA7603DF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演示</a:t>
            </a:r>
            <a:r>
              <a:rPr sz="3450" b="1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结束</a:t>
            </a:r>
            <a:endParaRPr sz="3450" b="1">
              <a:solidFill>
                <a:srgbClr val="173252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186A93-03A1-4B44-B1BF-3227A61D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406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F63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>
                <a:solidFill>
                  <a:srgbClr val="2F638F"/>
                </a:solidFill>
                <a:latin typeface="Hiragino Sans GB W6"/>
                <a:ea typeface="Hiragino Sans GB W6"/>
                <a:cs typeface="Hiragino Sans GB W6"/>
              </a:rPr>
              <a:t>报告生成与模板资产化方案</a:t>
            </a:r>
            <a:endParaRPr sz="2000" b="1">
              <a:solidFill>
                <a:srgbClr val="2F638F"/>
              </a:solidFill>
              <a:latin typeface="Hiragino Sans GB W6"/>
              <a:ea typeface="Hiragino Sans GB W6"/>
              <a:cs typeface="Hiragino Sans GB W6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D258F610-DD5C-4EEA-8365-DFE89C5F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4695"/>
            <a:ext cx="247650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173252"/>
          </a:solidFill>
          <a:ln xmlns:a="http://schemas.openxmlformats.org/drawingml/2006/main" w="12383">
            <a:solidFill>
              <a:srgbClr val="173252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899EB3F-CE7A-41D5-AFF3-7CD0A417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6994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感谢聆听  ·  Q&amp;A</a:t>
            </a:r>
            <a:endParaRPr sz="1500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907B80-801E-4581-AC63-74B313C3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270" y="5078730"/>
            <a:ext cx="57302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F63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>
                <a:solidFill>
                  <a:srgbClr val="2F638F"/>
                </a:solidFill>
                <a:latin typeface="Hiragino Sans GB"/>
                <a:ea typeface="Hiragino Sans GB"/>
                <a:cs typeface="Hiragino Sans GB"/>
              </a:rPr>
              <a:t>——</a:t>
            </a:r>
            <a:r>
              <a:rPr sz="1400" b="0">
                <a:solidFill>
                  <a:srgbClr val="2F638F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400" b="0">
                <a:solidFill>
                  <a:srgbClr val="2F638F"/>
                </a:solidFill>
                <a:latin typeface="Hiragino Sans GB"/>
                <a:ea typeface="Hiragino Sans GB"/>
                <a:cs typeface="Hiragino Sans GB"/>
              </a:rPr>
              <a:t>让报告模板从代码实现转变为可检索、可复用、可治理的组织资产</a:t>
            </a:r>
            <a:endParaRPr sz="1400" b="0">
              <a:solidFill>
                <a:srgbClr val="2F638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31EAEBB-CADE-41C5-B2DC-63748D39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77255"/>
            <a:ext cx="3048000" cy="33147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1">
            <a:gsLst>
              <a:gs pos="0">
                <a:srgbClr val="BCDDFF">
                  <a:alpha val="20000"/>
                </a:srgbClr>
              </a:gs>
              <a:gs pos="100000">
                <a:srgbClr val="BCDDFF">
                  <a:alpha val="71000"/>
                </a:srgbClr>
              </a:gs>
            </a:gsLst>
            <a:lin ang="10800000" scaled="1"/>
            <a:tileRect/>
          </a:gradFill>
          <a:ln xmlns:a="http://schemas.openxmlformats.org/drawingml/2006/main" w="3175">
            <a:solidFill>
              <a:srgbClr val="BCEC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0" rIns="381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申报人：曲艺（</a:t>
            </a: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研发三部</a:t>
            </a: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）</a:t>
            </a:r>
            <a:endParaRPr sz="1600">
              <a:solidFill>
                <a:srgbClr val="09077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8484507-3473-445B-8BFF-E9966F9A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365" y="5977133"/>
            <a:ext cx="1714500" cy="33147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 rotWithShape="1">
            <a:gsLst>
              <a:gs pos="0">
                <a:srgbClr val="19E78E"/>
              </a:gs>
              <a:gs pos="100000">
                <a:srgbClr val="BCDDFF">
                  <a:alpha val="71000"/>
                </a:srgbClr>
              </a:gs>
            </a:gsLst>
            <a:lin ang="10800000" scaled="1"/>
            <a:tileRect/>
          </a:gradFill>
          <a:ln xmlns:a="http://schemas.openxmlformats.org/drawingml/2006/main" w="3175">
            <a:solidFill>
              <a:srgbClr val="BCECFF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8100" tIns="0" rIns="381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>
                <a:solidFill>
                  <a:srgbClr val="173252"/>
                </a:solidFill>
                <a:latin typeface="Hiragino Sans GB"/>
                <a:ea typeface="Hiragino Sans GB"/>
                <a:cs typeface="Hiragino Sans GB"/>
              </a:rPr>
              <a:t>  2026-09-20</a:t>
            </a:r>
            <a:endParaRPr sz="1600">
              <a:solidFill>
                <a:srgbClr val="09077C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19543136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灵犀P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A067C"/>
      </a:accent1>
      <a:accent2>
        <a:srgbClr val="2865FF"/>
      </a:accent2>
      <a:accent3>
        <a:srgbClr val="0DDB83"/>
      </a:accent3>
      <a:accent4>
        <a:srgbClr val="58F7C0"/>
      </a:accent4>
      <a:accent5>
        <a:srgbClr val="2399FF"/>
      </a:accent5>
      <a:accent6>
        <a:srgbClr val="6ABEFF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灵犀P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2026-09-23T16:06:47.3190000Z</dcterms:created>
  <dcterms:modified xsi:type="dcterms:W3CDTF">2026-09-23T16:06:47.3190000Z</dcterms:modified>
</coreProperties>
</file>